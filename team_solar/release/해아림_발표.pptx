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A1F2B"/>
                </a:solidFill>
                <a:latin typeface="Malgun Gothic"/>
              </a:defRPr>
            </a:pPr>
            <a:r>
              <a:rPr sz="1200" b="1" i="0" u="none" strike="noStrike">
                <a:solidFill>
                  <a:srgbClr val="1A1F2B"/>
                </a:solidFill>
                <a:latin typeface="Malgun Gothic"/>
              </a:rPr>
              <a:t>모델별 일 오차율 평균 (낮을수록 좋음)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일 오차율 평균 (%)</c:v>
                </c:pt>
              </c:strCache>
            </c:strRef>
          </c:tx>
          <c:spPr>
            <a:solidFill>
              <a:srgbClr val="3B5BDB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A1F2B"/>
                    </a:solidFill>
                    <a:latin typeface="Malgun 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같은 모델 + 하루 전 예보 입력 (서빙 조건)</c:v>
                  </c:pt>
                  <c:pt idx="1">
                    <c:v>발전소 임베딩 추가 (운영 모델 v1)</c:v>
                  </c:pt>
                  <c:pt idx="2">
                    <c:v>낮 시간 가중 MAE</c:v>
                  </c:pt>
                  <c:pt idx="3">
                    <c:v>LSTM + 기상 (mse)</c:v>
                  </c:pt>
                  <c:pt idx="4">
                    <c:v>일사량 선형 비례</c:v>
                  </c:pt>
                  <c:pt idx="5">
                    <c:v>전날 같은 시간 그대로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9.85</c:v>
                </c:pt>
                <c:pt idx="1">
                  <c:v>8.29</c:v>
                </c:pt>
                <c:pt idx="2">
                  <c:v>8.33</c:v>
                </c:pt>
                <c:pt idx="3">
                  <c:v>8.98</c:v>
                </c:pt>
                <c:pt idx="4">
                  <c:v>12</c:v>
                </c:pt>
                <c:pt idx="5">
                  <c:v>16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100" u="none">
                  <a:solidFill>
                    <a:srgbClr val="1A1F2B"/>
                  </a:solidFill>
                  <a:latin typeface="Malgun 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F2B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8"/>
          <c:min val="0"/>
        </c:scaling>
        <c:delete val="0"/>
        <c:axPos val="b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478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200" b="1" i="0" u="none" strike="noStrike">
                <a:solidFill>
                  <a:srgbClr val="1A1F2B"/>
                </a:solidFill>
                <a:latin typeface="Malgun Gothic"/>
              </a:defRPr>
            </a:pPr>
            <a:r>
              <a:rPr sz="1200" b="1" i="0" u="none" strike="noStrike">
                <a:solidFill>
                  <a:srgbClr val="1A1F2B"/>
                </a:solidFill>
                <a:latin typeface="Malgun Gothic"/>
              </a:rPr>
              <a:t>월별 8% 통과율: 장마(7월) 0.45, 가을(11월) 0.71. 계절 차이는 모델이 이미 아는 변동이다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8% 통과율</c:v>
                </c:pt>
              </c:strCache>
            </c:strRef>
          </c:tx>
          <c:spPr>
            <a:solidFill>
              <a:srgbClr val="1B9E6A"/>
            </a:solidFill>
            <a:ln w="31750" cap="flat">
              <a:solidFill>
                <a:srgbClr val="1B9E6A"/>
              </a:solidFill>
              <a:prstDash val="solid"/>
              <a:round/>
            </a:ln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5B6478"/>
                    </a:solidFill>
                    <a:latin typeface="Malgun Gothic"/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1B9E6A"/>
              </a:solidFill>
              <a:ln w="9525" cap="flat">
                <a:solidFill>
                  <a:srgbClr val="1B9E6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Sheet1!$A$2:$A$13</c:f>
              <c:multiLvlStrCache>
                <c:ptCount val="12"/>
                <c:lvl>
                  <c:pt idx="0">
                    <c:v>25-09</c:v>
                  </c:pt>
                  <c:pt idx="1">
                    <c:v>10</c:v>
                  </c:pt>
                  <c:pt idx="2">
                    <c:v>11</c:v>
                  </c:pt>
                  <c:pt idx="3">
                    <c:v>12</c:v>
                  </c:pt>
                  <c:pt idx="4">
                    <c:v>26-01</c:v>
                  </c:pt>
                  <c:pt idx="5">
                    <c:v>02</c:v>
                  </c:pt>
                  <c:pt idx="6">
                    <c:v>03</c:v>
                  </c:pt>
                  <c:pt idx="7">
                    <c:v>04</c:v>
                  </c:pt>
                  <c:pt idx="8">
                    <c:v>05</c:v>
                  </c:pt>
                  <c:pt idx="9">
                    <c:v>06</c:v>
                  </c:pt>
                  <c:pt idx="10">
                    <c:v>07</c:v>
                  </c:pt>
                  <c:pt idx="11">
                    <c:v>08</c:v>
                  </c:pt>
                </c:lvl>
              </c:multiLvlStrCache>
            </c:multiLvl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0.4</c:v>
                </c:pt>
                <c:pt idx="1">
                  <c:v>0.56</c:v>
                </c:pt>
                <c:pt idx="2">
                  <c:v>0.71</c:v>
                </c:pt>
                <c:pt idx="3">
                  <c:v>0.54</c:v>
                </c:pt>
                <c:pt idx="4">
                  <c:v>0.64</c:v>
                </c:pt>
                <c:pt idx="5">
                  <c:v>0.63</c:v>
                </c:pt>
                <c:pt idx="6">
                  <c:v>0.64</c:v>
                </c:pt>
                <c:pt idx="7">
                  <c:v>0.57</c:v>
                </c:pt>
                <c:pt idx="8">
                  <c:v>0.61</c:v>
                </c:pt>
                <c:pt idx="9">
                  <c:v>0.64</c:v>
                </c:pt>
                <c:pt idx="10">
                  <c:v>0.45</c:v>
                </c:pt>
                <c:pt idx="11">
                  <c:v>0.56</c:v>
                </c:pt>
              </c:numCache>
            </c:numRef>
          </c:val>
          <c:smooth val="0"/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5B6478"/>
                  </a:solidFill>
                  <a:latin typeface="Malgun Gothic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A1F2B"/>
                </a:solidFill>
                <a:latin typeface="Malgun 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.3"/>
        </c:scaling>
        <c:delete val="0"/>
        <c:axPos val="l"/>
        <c:majorGridlines>
          <c:spPr>
            <a:ln w="9525" cap="flat">
              <a:solidFill>
                <a:srgbClr val="E3E7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B6478"/>
                </a:solidFill>
                <a:latin typeface="Malgun Gothic"/>
              </a:defRPr>
            </a:pPr>
            <a:endParaRPr lang="en-US"/>
          </a:p>
        </c:txPr>
        <c:crossAx val="2094734554"/>
        <c:crosses val="autoZero"/>
        <c:crossBetween val="between"/>
        <c:majorUnit val="0.1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해아림은 전력중개사업자를 위한 다음 날 24시간 태양광 발전량 예측 API입니다. 핵심은 예측 자체보다 운영입니다. 오차가 커졌을 때 원인을 가려 모델 탓일 때만 재학습합니다.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제도 요약. 오차 8% 이내인 날만 정산되고 6% 이하면 단가가 더 높습니다. 제출은 하루 전 10시이므로 그 시각에 아는 것은 과거 실적과 기상 예보뿐입니다.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7곳을 제외한 이유를 물으면: 시간별 계측이 급변하거나 피크가 3~4시간 늦게 찍히는 발전소는 모델이 아니라 계측의 문제라 학습에서 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 막대: 전날 그대로 쓰는 기준선 16%에서 운영 모델 8.29%까지. 맨 아래는 같은 모델에 하루 전 예보를 넣은 서빙 조건 9.85%입니다. 이 1.5%p 차이는 드리프트가 아니라 입력 품질의 몫입니다.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순서가 중요합니다. 동시성을 먼저 보고, 장기 추세, 급락, 나머지 순입니다. 설비와 오염은 재학습하면 안 되는 경우이고 모델 드리프트만 재학습으로 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표의 위 세 줄은 재학습하지 않는 날씨 변동, 가운데 네 줄은 설비 이상(실제 사례 3건 포함), 아래 두 줄만 재학습입니다.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건은 주입 없는 실제 데이터입니다. 모양이 다릅니다. 광양항은 정지 후 복구, 삼천포2는 하루 만에 계단형 급락, 영흥#5는 6개월 점진 하락입니다. 감지기는 세 건 모두 재학습을 막았습니다.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왼쪽은 모의 시나리오 기후 B입니다. 더운 경남 4곳만 임계값을 넘고 경북 2곳은 이내라 동시성 0.67로 모델 드리프트가 됩니다. 오른쪽 아래는 실제 광양항입니다. 실제가 기대보다 20% 많으면 설비 탓일 수 없으니 모델을 의심합니다.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1645920"/>
            <a:ext cx="6400800" cy="6400800"/>
          </a:xfrm>
          <a:prstGeom prst="ellipse">
            <a:avLst/>
          </a:prstGeom>
          <a:solidFill>
            <a:srgbClr val="E6EBFB"/>
          </a:solidFill>
          <a:ln w="12700">
            <a:solidFill>
              <a:srgbClr val="E6EBF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-1463040" y="4572000"/>
            <a:ext cx="4206240" cy="420624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31520" y="1234440"/>
            <a:ext cx="822960" cy="822960"/>
          </a:xfrm>
          <a:prstGeom prst="ellipse">
            <a:avLst/>
          </a:prstGeom>
          <a:solidFill>
            <a:srgbClr val="E6EBFB"/>
          </a:solidFill>
          <a:ln w="12700">
            <a:solidFill>
              <a:srgbClr val="E6EBFB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440180"/>
            <a:ext cx="411480" cy="4114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731520" y="2194560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</a:t>
            </a:r>
            <a:endParaRPr lang="en-US" sz="5200" dirty="0"/>
          </a:p>
        </p:txBody>
      </p:sp>
      <p:sp>
        <p:nvSpPr>
          <p:cNvPr id="7" name="Text 4"/>
          <p:cNvSpPr txBox="1"/>
          <p:nvPr/>
        </p:nvSpPr>
        <p:spPr>
          <a:xfrm>
            <a:off x="731520" y="320040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태양광 시간별 발전량 예측 B2B 서비스</a:t>
            </a:r>
            <a:endParaRPr lang="en-US" sz="24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794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→ MLOps → AIOps 루프 위에서, 오차의 원인을 가려낸 뒤에만 재학습하는 운영 설계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31520" y="4663440"/>
            <a:ext cx="4572000" cy="329184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68680" y="4782312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1024128" y="4663440"/>
            <a:ext cx="4206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발전소 10곳 · 3.7년 실적 · Open-Meteo 기상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5440680" y="4663440"/>
            <a:ext cx="4206240" cy="329184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5577840" y="4782312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733288" y="466344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 · 재학습 2회 · 새 클론에서 재현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731520" y="59436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HAIC 조별 과제 · 2026년 10월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예측제도는 "맞힌 날"에만 돈을 준다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재생에너지 발전량 예측제도: 하루 전 10시에 다음 날 24시간을 제출하고, 일 오차율 8% 이내인 날만 정산한다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682496"/>
            <a:ext cx="31638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이내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404872"/>
            <a:ext cx="3163824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정산 조건. 6% 이하 4원/kWh, 6~8% 3원/kWh. 2025년부터 허용 오차 12% → 8%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15968" y="155448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517136" y="1682496"/>
            <a:ext cx="31638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 10:00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4517136" y="2404872"/>
            <a:ext cx="3163824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제출 마감. 이때 아는 것은 과거 실적과 기상 예보뿐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8083296" y="1554480"/>
            <a:ext cx="3566160" cy="1417320"/>
          </a:xfrm>
          <a:prstGeom prst="roundRect">
            <a:avLst>
              <a:gd name="adj" fmla="val 7742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8284464" y="1682496"/>
            <a:ext cx="3163824" cy="708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24h × N곳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8284464" y="2404872"/>
            <a:ext cx="3163824" cy="5102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중개사업자(VPP)는 매일 발전소 수십 곳의 시간별 예측을 제출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48640" y="3246120"/>
            <a:ext cx="548640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777240" y="340156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운영자가 매일 부딪히는 세 가지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" y="3840480"/>
            <a:ext cx="50292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예측이 틀렸는데 원인을 모른다. 날씨였는지, 설비가 고장 났는지, 모델이 낡았는지.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커질 때마다 재학습하면 고장 난 발전소를 "정상"으로 학습한다.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점검이 필요한 발전소를 예측 오차만으로는 골라낼 수 없다.</a:t>
            </a:r>
            <a:endParaRPr 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6263640" y="3246120"/>
            <a:ext cx="5394960" cy="29260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6492240" y="340156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해아림이 답하는 것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6492240" y="3840480"/>
            <a:ext cx="49377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발전량을 제도 포맷으로 API 한 번에 돌려준다.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커지면 원인을 날씨 / 설비 / 모델로 자동 분류한다.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탓일 때만 재학습하고, 게이트를 통과한 모델만 교체한다.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탓이면 재학습을 막고 점검 알림을 보낸다.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 기능과 고객이 얻는 것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전력중개사업자(VPP)와 발전소 운영자를 위한 B2B API와 운영 대시보드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0020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77240" y="1792224"/>
            <a:ext cx="640080" cy="640080"/>
          </a:xfrm>
          <a:prstGeom prst="ellipse">
            <a:avLst/>
          </a:prstGeom>
          <a:solidFill>
            <a:srgbClr val="E6EBFB"/>
          </a:solidFill>
          <a:ln w="12700">
            <a:solidFill>
              <a:srgbClr val="E6EBFB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" y="1952244"/>
            <a:ext cx="320040" cy="32004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645920" y="176479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날 24시간 예측 API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213055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/predict. 72시간 실적과 24시간 예보를 보내면 hourly_kwh[24]와 model_version을 돌려준다. 제출 자료 준비 시간이 사라진다.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48640" y="278892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2980944"/>
            <a:ext cx="640080" cy="640080"/>
          </a:xfrm>
          <a:prstGeom prst="ellipse">
            <a:avLst/>
          </a:prstGeom>
          <a:solidFill>
            <a:srgbClr val="E3F6EE"/>
          </a:solidFill>
          <a:ln w="12700">
            <a:solidFill>
              <a:srgbClr val="E3F6EE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7260" y="3140964"/>
            <a:ext cx="320040" cy="32004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45920" y="295351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 업로드와 사후 대조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1645920" y="331927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POST /data/upload. 컬럼·시각·중복·용량을 검증한 뒤 저장한다. 실적이 들어오면 날짜별 오차율과 PR을 계산해 누적한다.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97764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77240" y="4169664"/>
            <a:ext cx="640080" cy="640080"/>
          </a:xfrm>
          <a:prstGeom prst="ellipse">
            <a:avLst/>
          </a:prstGeom>
          <a:solidFill>
            <a:srgbClr val="FBF1DC"/>
          </a:solidFill>
          <a:ln w="12700">
            <a:solidFill>
              <a:srgbClr val="FBF1DC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4329684"/>
            <a:ext cx="320040" cy="32004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645920" y="414223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원인별 드리프트 대응</a:t>
            </a:r>
            <a:endParaRPr lang="en-US" sz="1500" dirty="0"/>
          </a:p>
        </p:txBody>
      </p:sp>
      <p:sp>
        <p:nvSpPr>
          <p:cNvPr id="20" name="Text 15"/>
          <p:cNvSpPr txBox="1"/>
          <p:nvPr/>
        </p:nvSpPr>
        <p:spPr>
          <a:xfrm>
            <a:off x="1645920" y="450799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임계값을 넘으면 PR·동시성·모양으로 날씨 / 설비 / 오염 / 모델 드리프트를 가른다. 모델일 때만 재학습한다.</a:t>
            </a:r>
            <a:endParaRPr lang="en-US" sz="1150" dirty="0"/>
          </a:p>
        </p:txBody>
      </p:sp>
      <p:sp>
        <p:nvSpPr>
          <p:cNvPr id="21" name="Shape 16"/>
          <p:cNvSpPr/>
          <p:nvPr/>
        </p:nvSpPr>
        <p:spPr>
          <a:xfrm>
            <a:off x="548640" y="5166360"/>
            <a:ext cx="11064240" cy="1024128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77240" y="5358384"/>
            <a:ext cx="640080" cy="640080"/>
          </a:xfrm>
          <a:prstGeom prst="ellipse">
            <a:avLst/>
          </a:prstGeom>
          <a:solidFill>
            <a:srgbClr val="FBE3E3"/>
          </a:solidFill>
          <a:ln w="12700">
            <a:solidFill>
              <a:srgbClr val="FBE3E3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7260" y="5518404"/>
            <a:ext cx="320040" cy="32004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645920" y="5330952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 알림</a:t>
            </a:r>
            <a:endParaRPr lang="en-US" sz="1500" dirty="0"/>
          </a:p>
        </p:txBody>
      </p:sp>
      <p:sp>
        <p:nvSpPr>
          <p:cNvPr id="25" name="Text 19"/>
          <p:cNvSpPr txBox="1"/>
          <p:nvPr/>
        </p:nvSpPr>
        <p:spPr>
          <a:xfrm>
            <a:off x="1645920" y="5696712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발전소만 PR이 0.75 아래면 [ALERT]를 남기고 재학습을 막는다. 고장을 정상으로 학습하지 않는다.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데이터로 만들었다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공개 발전 실적과 Open-Meteo 기상. 합성 데이터가 아니라 발전소 10곳의 3.7년치 시간별 실적이다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49808" y="1682496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10곳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749808" y="2267712"/>
            <a:ext cx="2249424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계측이 정상인 발전소 (전체 24곳 중)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3337560" y="15544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3538728" y="1682496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3.7년</a:t>
            </a:r>
            <a:endParaRPr lang="en-US" sz="3000" dirty="0"/>
          </a:p>
        </p:txBody>
      </p:sp>
      <p:sp>
        <p:nvSpPr>
          <p:cNvPr id="12" name="Text 9"/>
          <p:cNvSpPr txBox="1"/>
          <p:nvPr/>
        </p:nvSpPr>
        <p:spPr>
          <a:xfrm>
            <a:off x="3538728" y="2267712"/>
            <a:ext cx="2249424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2023-01 ~ 2026-08, 321,336행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126480" y="1554480"/>
            <a:ext cx="265176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327648" y="1682496"/>
            <a:ext cx="224942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7개 위치</a:t>
            </a:r>
            <a:endParaRPr lang="en-US" sz="3000" dirty="0"/>
          </a:p>
        </p:txBody>
      </p:sp>
      <p:sp>
        <p:nvSpPr>
          <p:cNvPr id="15" name="Text 12"/>
          <p:cNvSpPr txBox="1"/>
          <p:nvPr/>
        </p:nvSpPr>
        <p:spPr>
          <a:xfrm>
            <a:off x="6327648" y="2267712"/>
            <a:ext cx="2249424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Open-Meteo 관측과 하루 전 예보 (일사량·운량·기온)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8915400" y="1554480"/>
            <a:ext cx="2697480" cy="118872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9116568" y="1682496"/>
            <a:ext cx="22951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1년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9116568" y="2267712"/>
            <a:ext cx="2295144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구간 2025-09 ~ 2026-08, 3,534 발전소-일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01752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5303520"/>
                <a:gridCol w="429768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항목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규칙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이유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예측 단위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이용률 = 발전량 ÷ 설비용량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용량이 다른 발전소 10곳을 한 모델로 통합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 "N시" = N-1~N시 구간, 기상은 N시 직전 1시간 평균, 24:00은 다음날 00:00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발전과 기상의 피크가 어긋나지 않게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제외 7곳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시간별 급변 25~52%, 피크 3~4시간 지연, 장기 정지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계측 불량을 모델에 넣지 않는다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설비용량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피크로 추정 (공식값은 plants.csv에 넣으면 그대로 반영)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오차율의 분모이므로 공식값 확인이 필요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 / 평가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학습은 관측 기상, 평가와 서빙은 하루 전 예보도 함께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서빙 조건의 오차를 따로 잰다</a:t>
                      </a:r>
                      <a:endParaRPr lang="en-US" sz="10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시간별 통합 모델 구조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이력 인코더 + 내일 기상·태양고도 + 날짜·발전소 임베딩 → 24시간 이용률. 파라미터 18,592개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85800" y="175564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72시간 이용률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08483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 01:00 ~ D-1 24:00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85800" y="308152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내일 24시간 기상 예보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41071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일사량 · 운량 · 기온 + sin(태양고도)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4297680"/>
            <a:ext cx="2651760" cy="1143000"/>
          </a:xfrm>
          <a:prstGeom prst="roundRect">
            <a:avLst>
              <a:gd name="adj" fmla="val 9600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5800" y="4407408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· 발전소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4736592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sin/cos 연중일 + 발전소 one-hot(10)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749040" y="1645920"/>
            <a:ext cx="2468880" cy="1143000"/>
          </a:xfrm>
          <a:prstGeom prst="roundRect">
            <a:avLst>
              <a:gd name="adj" fmla="val 9600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886200" y="175564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LSTM 32 → 16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3886200" y="208483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인코더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3749040" y="2971800"/>
            <a:ext cx="2468880" cy="1143000"/>
          </a:xfrm>
          <a:prstGeom prst="roundRect">
            <a:avLst>
              <a:gd name="adj" fmla="val 9600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886200" y="308152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48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3886200" y="341071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기상 피처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749040" y="4297680"/>
            <a:ext cx="2468880" cy="1143000"/>
          </a:xfrm>
          <a:prstGeom prst="roundRect">
            <a:avLst>
              <a:gd name="adj" fmla="val 9600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3886200" y="4407408"/>
            <a:ext cx="219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8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3886200" y="4736592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 임베딩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766560" y="2743200"/>
            <a:ext cx="2194560" cy="164592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903720" y="285292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Dense 64 → Dense 24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3182112"/>
            <a:ext cx="19202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sigmoid 출력. 손실은 낮 시간 가중 MAE (이용률 10% 이상 가중 1, 그 외 0.15)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9509760" y="2743200"/>
            <a:ext cx="2103120" cy="1645920"/>
          </a:xfrm>
          <a:prstGeom prst="roundRect">
            <a:avLst>
              <a:gd name="adj" fmla="val 666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646920" y="2852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× 설비용량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9646920" y="3182112"/>
            <a:ext cx="1828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hourly_kwh[24]. 태양고도가 0인 시간은 0으로 마스킹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3200400" y="2212848"/>
            <a:ext cx="54864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3200400" y="3538728"/>
            <a:ext cx="54864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32" name="Shape 30"/>
          <p:cNvSpPr/>
          <p:nvPr/>
        </p:nvSpPr>
        <p:spPr>
          <a:xfrm>
            <a:off x="3200400" y="4864608"/>
            <a:ext cx="54864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6217920" y="2212848"/>
            <a:ext cx="548640" cy="1078992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34" name="Shape 32"/>
          <p:cNvSpPr/>
          <p:nvPr/>
        </p:nvSpPr>
        <p:spPr>
          <a:xfrm>
            <a:off x="6217920" y="3538728"/>
            <a:ext cx="548640" cy="27432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6217920" y="4864608"/>
            <a:ext cx="548640" cy="-1024128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8961120" y="3566160"/>
            <a:ext cx="54864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548640" y="5623560"/>
            <a:ext cx="11064240" cy="658368"/>
          </a:xfrm>
          <a:prstGeom prst="roundRect">
            <a:avLst>
              <a:gd name="adj" fmla="val 16667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731520" y="574243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이 구조인가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2743200" y="569671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mse 8.98% → 낮 가중 MAE 8.33% → 발전소 임베딩 7.99% (실험). 학습 길이, 피처 추가, 앙상블은 효과가 없었다. 제도 오차율은 낮 시간만 세므로 손실도 낮에 집중했다.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 대비 오차 절반, 서빙 조건까지 측정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1년 · 발전소 10곳 · 3,534 발전소-일. 일 오차율 = 용량 대비 시간 오차의 낮 시간 평균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48640" y="1463040"/>
          <a:ext cx="667512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Shape 4"/>
          <p:cNvSpPr/>
          <p:nvPr/>
        </p:nvSpPr>
        <p:spPr>
          <a:xfrm>
            <a:off x="7406640" y="146304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607808" y="1591056"/>
            <a:ext cx="160934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8.29%</a:t>
            </a:r>
            <a:endParaRPr lang="en-US" sz="3000" dirty="0"/>
          </a:p>
        </p:txBody>
      </p:sp>
      <p:sp>
        <p:nvSpPr>
          <p:cNvPr id="10" name="Text 6"/>
          <p:cNvSpPr txBox="1"/>
          <p:nvPr/>
        </p:nvSpPr>
        <p:spPr>
          <a:xfrm>
            <a:off x="7607808" y="2148840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모델 일 오차율 (관측 기상 입력)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9601200" y="146304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9802368" y="1591056"/>
            <a:ext cx="160934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0.58</a:t>
            </a:r>
            <a:endParaRPr lang="en-US" sz="3000" dirty="0"/>
          </a:p>
        </p:txBody>
      </p:sp>
      <p:sp>
        <p:nvSpPr>
          <p:cNvPr id="13" name="Text 9"/>
          <p:cNvSpPr txBox="1"/>
          <p:nvPr/>
        </p:nvSpPr>
        <p:spPr>
          <a:xfrm>
            <a:off x="9802368" y="2148840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(기준선 0.30)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406640" y="274320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7607808" y="2871216"/>
            <a:ext cx="160934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9.85%</a:t>
            </a:r>
            <a:endParaRPr lang="en-US" sz="3000" dirty="0"/>
          </a:p>
        </p:txBody>
      </p:sp>
      <p:sp>
        <p:nvSpPr>
          <p:cNvPr id="16" name="Text 12"/>
          <p:cNvSpPr txBox="1"/>
          <p:nvPr/>
        </p:nvSpPr>
        <p:spPr>
          <a:xfrm>
            <a:off x="7607808" y="3429000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전 예보 입력 (서빙 조건)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9601200" y="2743200"/>
            <a:ext cx="2011680" cy="1143000"/>
          </a:xfrm>
          <a:prstGeom prst="roundRect">
            <a:avLst>
              <a:gd name="adj" fmla="val 96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9802368" y="2871216"/>
            <a:ext cx="1609344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0.49</a:t>
            </a:r>
            <a:endParaRPr lang="en-US" sz="3000" dirty="0"/>
          </a:p>
        </p:txBody>
      </p:sp>
      <p:sp>
        <p:nvSpPr>
          <p:cNvPr id="19" name="Text 15"/>
          <p:cNvSpPr txBox="1"/>
          <p:nvPr/>
        </p:nvSpPr>
        <p:spPr>
          <a:xfrm>
            <a:off x="9802368" y="3429000"/>
            <a:ext cx="160934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 8% 통과율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7406640" y="4023360"/>
            <a:ext cx="4206240" cy="100584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1" name="Text 17"/>
          <p:cNvSpPr txBox="1"/>
          <p:nvPr/>
        </p:nvSpPr>
        <p:spPr>
          <a:xfrm>
            <a:off x="7589520" y="4133088"/>
            <a:ext cx="3886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예보 입력 격차 1.5%p는 드리프트가 아니라 입력 품질의 몫이다. 예보 소스와 최신 런 사용, 예보로 학습하는 것이 다음 과제.</a:t>
            </a:r>
            <a:endParaRPr lang="en-US" sz="1050" dirty="0"/>
          </a:p>
        </p:txBody>
      </p:sp>
      <p:graphicFrame>
        <p:nvGraphicFramePr>
          <p:cNvPr id="22" name="Chart 1" descr=""/>
          <p:cNvGraphicFramePr/>
          <p:nvPr/>
        </p:nvGraphicFramePr>
        <p:xfrm>
          <a:off x="548640" y="5120640"/>
          <a:ext cx="11064240" cy="1234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지표 하나로 통일하고, 게이트가 배포를 막는다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학습 손실, 배포 게이트, 드리프트 임계값이 모두 같은 제도 오차율에서 나온다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512064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77240" y="16916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제도 오차율 (data/metrics.py)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084832"/>
            <a:ext cx="46634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시간 오차율 = |예측 − 실제| ÷ 설비용량 × 100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발전량이 용량의 10% 이상인 시간만 (낮 시간)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일 오차율 = 시간 오차율의 평균 → 8% 이하면 정산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1F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= Σ실제 ÷ Σ(관측 기상으로 낸 기대치)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1.0 = 설비가 모델이 아는 정상 상태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943600" y="1554480"/>
            <a:ext cx="5669280" cy="713232"/>
          </a:xfrm>
          <a:prstGeom prst="roundRect">
            <a:avLst>
              <a:gd name="adj" fmla="val 1538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126480" y="1682496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배포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7589520" y="1645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8% 통과율 ≥ 0.45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589520" y="1938528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기준선(전날 그대로·일사량 선형 0.30)의 1.5배. 실제 0.579로 통과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943600" y="2350008"/>
            <a:ext cx="5669280" cy="713232"/>
          </a:xfrm>
          <a:prstGeom prst="roundRect">
            <a:avLst>
              <a:gd name="adj" fmla="val 1538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0" y="2478024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이후 배포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7589520" y="2441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 운영 모델 이상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7589520" y="273405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테스트 1년에서 챔피언/챌린저 비교. 동률 허용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0" y="3145536"/>
            <a:ext cx="5669280" cy="713232"/>
          </a:xfrm>
          <a:prstGeom prst="roundRect">
            <a:avLst>
              <a:gd name="adj" fmla="val 1538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6126480" y="327355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재학습(fine-tune)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589520" y="32369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남겨 둔 날짜에서 현 운영 모델보다 오차가 낮을 때만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7589520" y="352958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30일 중 뒤 20%를 평가용으로 남긴다. 통과 못 하면 기존 버전 유지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11064240" cy="20574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77240" y="42519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임계값은 검증 오차에서 유도한다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77240" y="4663440"/>
            <a:ext cx="10607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임계값 = max(8%, 운영 모델 검증 오차 8.29% × 1.25) = 10.36%. 고정 8%를 쓰면 실제 데이터에서는 평상시(8.3%)가 매일 드리프트가 된다.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21일 일 오차율 평균이 임계값을 넘을 때만 원인 분류로 넘어간다. 기록이 7일 미만이면 판단을 보류한다.</a:t>
            </a:r>
            <a:endParaRPr lang="en-US" sz="1250" dirty="0"/>
          </a:p>
          <a:p>
            <a:pPr marL="177800" indent="-1778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서빙 조건의 오차(하루 전 예보 입력)와 예보 괴리(낮 시간 관측-예보 일사량 차이)를 함께 기록해 "예보가 빗나간 날"을 설명한다.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오차가 커졌다는 것과 모델이 틀렸다는 것은 다르다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발전소가 기대보다 덜 만들 이유는 많지만 더 만들 이유는 없다. 세 가지 신호로 원인을 가른다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548640" y="1554480"/>
            <a:ext cx="2103120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오차</a:t>
            </a:r>
            <a:endParaRPr 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오차율이 10.36%를 넘는가</a:t>
            </a:r>
            <a:endParaRPr lang="en-US" sz="1050" dirty="0"/>
          </a:p>
        </p:txBody>
      </p:sp>
      <p:sp>
        <p:nvSpPr>
          <p:cNvPr id="10" name="Text 7"/>
          <p:cNvSpPr txBox="1"/>
          <p:nvPr/>
        </p:nvSpPr>
        <p:spPr>
          <a:xfrm>
            <a:off x="685800" y="2880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아니오 → 정상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2651760" y="2532888"/>
            <a:ext cx="13716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2788920" y="1554480"/>
            <a:ext cx="2103120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292608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동시성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92608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시기(±7일) 다른 발전소도 절반 이상 넘었나, 또는 21일 PR &gt; 1.15인가</a:t>
            </a:r>
            <a:endParaRPr lang="en-US" sz="1050" dirty="0"/>
          </a:p>
        </p:txBody>
      </p:sp>
      <p:sp>
        <p:nvSpPr>
          <p:cNvPr id="15" name="Text 12"/>
          <p:cNvSpPr txBox="1"/>
          <p:nvPr/>
        </p:nvSpPr>
        <p:spPr>
          <a:xfrm>
            <a:off x="2926080" y="2880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모델 드리프트 → 재학습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4892040" y="2532888"/>
            <a:ext cx="13716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17" name="Shape 14"/>
          <p:cNvSpPr/>
          <p:nvPr/>
        </p:nvSpPr>
        <p:spPr>
          <a:xfrm>
            <a:off x="5029200" y="1554480"/>
            <a:ext cx="2103120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16636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장기 추세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16636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60일 이상 기록에서 PR이 단조 하락하는가</a:t>
            </a:r>
            <a:endParaRPr lang="en-US" sz="1050" dirty="0"/>
          </a:p>
        </p:txBody>
      </p:sp>
      <p:sp>
        <p:nvSpPr>
          <p:cNvPr id="20" name="Text 17"/>
          <p:cNvSpPr txBox="1"/>
          <p:nvPr/>
        </p:nvSpPr>
        <p:spPr>
          <a:xfrm>
            <a:off x="5166360" y="2880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오염 → 청소 권고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132320" y="2532888"/>
            <a:ext cx="13716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7269480" y="1554480"/>
            <a:ext cx="2103120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40664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급락</a:t>
            </a:r>
            <a:endParaRPr lang="en-US" sz="1300" dirty="0"/>
          </a:p>
        </p:txBody>
      </p:sp>
      <p:sp>
        <p:nvSpPr>
          <p:cNvPr id="24" name="Text 21"/>
          <p:cNvSpPr txBox="1"/>
          <p:nvPr/>
        </p:nvSpPr>
        <p:spPr>
          <a:xfrm>
            <a:off x="740664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최근 7일 PR이 0.75 아래인가</a:t>
            </a:r>
            <a:endParaRPr lang="en-US" sz="1050" dirty="0"/>
          </a:p>
        </p:txBody>
      </p:sp>
      <p:sp>
        <p:nvSpPr>
          <p:cNvPr id="25" name="Text 22"/>
          <p:cNvSpPr txBox="1"/>
          <p:nvPr/>
        </p:nvSpPr>
        <p:spPr>
          <a:xfrm>
            <a:off x="7406640" y="2880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 → 설비 이상 → [ALERT], 재학습 차단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9372600" y="2532888"/>
            <a:ext cx="137160" cy="0"/>
          </a:xfrm>
          <a:prstGeom prst="line">
            <a:avLst/>
          </a:prstGeom>
          <a:noFill/>
          <a:ln w="19050">
            <a:solidFill>
              <a:srgbClr val="8A93A6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9509760" y="1554480"/>
            <a:ext cx="2103120" cy="1965960"/>
          </a:xfrm>
          <a:prstGeom prst="roundRect">
            <a:avLst>
              <a:gd name="adj" fmla="val 5581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9646920" y="166420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나머지</a:t>
            </a:r>
            <a:endParaRPr lang="en-US" sz="1300" dirty="0"/>
          </a:p>
        </p:txBody>
      </p:sp>
      <p:sp>
        <p:nvSpPr>
          <p:cNvPr id="29" name="Text 26"/>
          <p:cNvSpPr txBox="1"/>
          <p:nvPr/>
        </p:nvSpPr>
        <p:spPr>
          <a:xfrm>
            <a:off x="9646920" y="20116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PR은 정상인데 오차만 큰가</a:t>
            </a:r>
            <a:endParaRPr lang="en-US" sz="1050" dirty="0"/>
          </a:p>
        </p:txBody>
      </p:sp>
      <p:sp>
        <p:nvSpPr>
          <p:cNvPr id="30" name="Text 27"/>
          <p:cNvSpPr txBox="1"/>
          <p:nvPr/>
        </p:nvSpPr>
        <p:spPr>
          <a:xfrm>
            <a:off x="9646920" y="288036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날씨 → 예보 품질 알림만</a:t>
            </a:r>
            <a:endParaRPr lang="en-US" sz="10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94760"/>
          <a:ext cx="1106424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188720"/>
                <a:gridCol w="2468880"/>
                <a:gridCol w="1371600"/>
                <a:gridCol w="1463040"/>
                <a:gridCol w="2560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오차율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 (실제 ÷ 관측 기상 기대치)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범위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날씨·예보 빗나감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≈ 1.0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지역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며칠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알림만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고장·인버터 정지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크게 커짐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 아래로 급락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계단형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[ALERT], 재학습 차단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오염·노후·그늘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서서히 커짐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0.75~0.92, 단조 하락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몇 주 ~ 몇 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청소·점검 권고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커짐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여러 곳이 같은 방향, 또는 1.15 초과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절반 이상 동시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동시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fine-tune → 게이트 → 재배포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계측·데이터 품질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들쭉날쭉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피크 지연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곳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시간 어긋남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업로드 검증에서 거부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AIOps 파이프라인 8단계와 운영 안전장치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대시보드는 aiops.log의 [WARN] → [INFO] → [OK]를 읽어 단계를 켠다. 모델 드리프트일 때만 5단계로 넘어간다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수집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요청 수신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938528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029968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모니터링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2029968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기록 누적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328416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419856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 감지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419856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21일 오차율 vs 임계값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718304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FBF1DC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809744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분류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4809744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 · 발전소 동시성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108192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199632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트리거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199632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드리프트일 때만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7498080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89520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학습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7589520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fine-tuning 10 epoch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887968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979408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등록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8979408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Registry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10277856" y="1554480"/>
            <a:ext cx="1298448" cy="1143000"/>
          </a:xfrm>
          <a:prstGeom prst="roundRect">
            <a:avLst>
              <a:gd name="adj" fmla="val 8000"/>
            </a:avLst>
          </a:prstGeom>
          <a:solidFill>
            <a:srgbClr val="E3F6EE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369296" y="1627632"/>
            <a:ext cx="1143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배포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10369296" y="2011680"/>
            <a:ext cx="1143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@champion 교체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48640" y="30175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731520" y="3383280"/>
            <a:ext cx="594360" cy="594360"/>
          </a:xfrm>
          <a:prstGeom prst="ellipse">
            <a:avLst/>
          </a:prstGeom>
          <a:solidFill>
            <a:srgbClr val="E6EBFB"/>
          </a:solidFill>
          <a:ln w="12700">
            <a:solidFill>
              <a:srgbClr val="E6EBFB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0110" y="3531870"/>
            <a:ext cx="297180" cy="297180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1508760" y="31546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백그라운드 작업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1508760" y="34930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/jobs/current로 상태를 본다. 학습 중에도 /predict는 기존 버전으로 응답하고, 진행 중이면 새 요청은 같은 작업으로 합친다.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6172200" y="301752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6355080" y="3383280"/>
            <a:ext cx="594360" cy="594360"/>
          </a:xfrm>
          <a:prstGeom prst="ellipse">
            <a:avLst/>
          </a:prstGeom>
          <a:solidFill>
            <a:srgbClr val="E6EBFB"/>
          </a:solidFill>
          <a:ln w="12700">
            <a:solidFill>
              <a:srgbClr val="E6EBFB"/>
            </a:solidFill>
            <a:prstDash val="solid"/>
          </a:ln>
        </p:spPr>
      </p:sp>
      <p:pic>
        <p:nvPicPr>
          <p:cNvPr id="3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03670" y="3531870"/>
            <a:ext cx="297180" cy="297180"/>
          </a:xfrm>
          <a:prstGeom prst="rect">
            <a:avLst/>
          </a:prstGeom>
        </p:spPr>
      </p:pic>
      <p:sp>
        <p:nvSpPr>
          <p:cNvPr id="38" name="Text 34"/>
          <p:cNvSpPr txBox="1"/>
          <p:nvPr/>
        </p:nvSpPr>
        <p:spPr>
          <a:xfrm>
            <a:off x="7132320" y="31546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MLflow alias @champion</a:t>
            </a:r>
            <a:endParaRPr lang="en-US" sz="1300" dirty="0"/>
          </a:p>
        </p:txBody>
      </p:sp>
      <p:sp>
        <p:nvSpPr>
          <p:cNvPr id="39" name="Text 35"/>
          <p:cNvSpPr txBox="1"/>
          <p:nvPr/>
        </p:nvSpPr>
        <p:spPr>
          <a:xfrm>
            <a:off x="7132320" y="349300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승격은 alias 이동이다. 게이트에 걸리면 기존 버전을 유지하고, 학습이 실패해도 서빙은 그대로다.</a:t>
            </a:r>
            <a:endParaRPr lang="en-US" sz="1050" dirty="0"/>
          </a:p>
        </p:txBody>
      </p:sp>
      <p:sp>
        <p:nvSpPr>
          <p:cNvPr id="40" name="Shape 36"/>
          <p:cNvSpPr/>
          <p:nvPr/>
        </p:nvSpPr>
        <p:spPr>
          <a:xfrm>
            <a:off x="548640" y="457200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41" name="Shape 37"/>
          <p:cNvSpPr/>
          <p:nvPr/>
        </p:nvSpPr>
        <p:spPr>
          <a:xfrm>
            <a:off x="731520" y="4937760"/>
            <a:ext cx="594360" cy="594360"/>
          </a:xfrm>
          <a:prstGeom prst="ellipse">
            <a:avLst/>
          </a:prstGeom>
          <a:solidFill>
            <a:srgbClr val="E6EBFB"/>
          </a:solidFill>
          <a:ln w="12700">
            <a:solidFill>
              <a:srgbClr val="E6EBFB"/>
            </a:solidFill>
            <a:prstDash val="solid"/>
          </a:ln>
        </p:spPr>
      </p:sp>
      <p:pic>
        <p:nvPicPr>
          <p:cNvPr id="4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110" y="5086350"/>
            <a:ext cx="297180" cy="297180"/>
          </a:xfrm>
          <a:prstGeom prst="rect">
            <a:avLst/>
          </a:prstGeom>
        </p:spPr>
      </p:pic>
      <p:sp>
        <p:nvSpPr>
          <p:cNvPr id="43" name="Text 38"/>
          <p:cNvSpPr txBox="1"/>
          <p:nvPr/>
        </p:nvSpPr>
        <p:spPr>
          <a:xfrm>
            <a:off x="150876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 데이터 선별</a:t>
            </a:r>
            <a:endParaRPr lang="en-US" sz="1300" dirty="0"/>
          </a:p>
        </p:txBody>
      </p:sp>
      <p:sp>
        <p:nvSpPr>
          <p:cNvPr id="44" name="Text 39"/>
          <p:cNvSpPr txBox="1"/>
          <p:nvPr/>
        </p:nvSpPr>
        <p:spPr>
          <a:xfrm>
            <a:off x="1508760" y="50474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시기에 PR이 0.75 아래인 발전소는 동시성에 묶여도 제외한다. 영흥#5를 섞었을 때 새 모델 오차가 10.41%에서 10.95%로 나빠지는 것을 확인했다.</a:t>
            </a:r>
            <a:endParaRPr lang="en-US" sz="1050" dirty="0"/>
          </a:p>
        </p:txBody>
      </p:sp>
      <p:sp>
        <p:nvSpPr>
          <p:cNvPr id="45" name="Shape 40"/>
          <p:cNvSpPr/>
          <p:nvPr/>
        </p:nvSpPr>
        <p:spPr>
          <a:xfrm>
            <a:off x="6172200" y="4572000"/>
            <a:ext cx="54406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46" name="Shape 41"/>
          <p:cNvSpPr/>
          <p:nvPr/>
        </p:nvSpPr>
        <p:spPr>
          <a:xfrm>
            <a:off x="6355080" y="4937760"/>
            <a:ext cx="594360" cy="594360"/>
          </a:xfrm>
          <a:prstGeom prst="ellipse">
            <a:avLst/>
          </a:prstGeom>
          <a:solidFill>
            <a:srgbClr val="E6EBFB"/>
          </a:solidFill>
          <a:ln w="12700">
            <a:solidFill>
              <a:srgbClr val="E6EBFB"/>
            </a:solidFill>
            <a:prstDash val="solid"/>
          </a:ln>
        </p:spPr>
      </p:sp>
      <p:pic>
        <p:nvPicPr>
          <p:cNvPr id="4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03670" y="5086350"/>
            <a:ext cx="297180" cy="297180"/>
          </a:xfrm>
          <a:prstGeom prst="rect">
            <a:avLst/>
          </a:prstGeom>
        </p:spPr>
      </p:pic>
      <p:sp>
        <p:nvSpPr>
          <p:cNvPr id="48" name="Text 42"/>
          <p:cNvSpPr txBox="1"/>
          <p:nvPr/>
        </p:nvSpPr>
        <p:spPr>
          <a:xfrm>
            <a:off x="7132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검증과 테스트</a:t>
            </a:r>
            <a:endParaRPr lang="en-US" sz="1300" dirty="0"/>
          </a:p>
        </p:txBody>
      </p:sp>
      <p:sp>
        <p:nvSpPr>
          <p:cNvPr id="49" name="Text 43"/>
          <p:cNvSpPr txBox="1"/>
          <p:nvPr/>
        </p:nvSpPr>
        <p:spPr>
          <a:xfrm>
            <a:off x="7132320" y="5047488"/>
            <a:ext cx="4343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업로드는 컬럼·시각·중복·미등록 발전소·용량 범위를 검사해 거부한다. 계약 테스트 14개(pytest 0.2초). 새 클론에서 전체 재현.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9개: 날씨 3 · 설비 4 · 모델 드리프트 2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실적 구간을 그대로 또는 변형해 투입했다. 재학습은 두 번만 걸렸고 둘 다 게이트를 통과했다 (새 클론 재현 로그와 동일)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011680"/>
                <a:gridCol w="2834640"/>
                <a:gridCol w="1463040"/>
                <a:gridCol w="1097280"/>
                <a:gridCol w="29260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시나리오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데이터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일 오차율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판정 → 대응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2026-08-11~31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7.17%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장마철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2026-06-20~07-10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9.19%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1.05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(임계값 이내, 모델이 아는 계절)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날씨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A: 우기 패턴만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장마철 실적 그대로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6.9~9.2%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0.98~1.11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정상 (입력 분포만 변화)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합성 고장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삼천포2, 8일째부터 ×0.5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16.29%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0.46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[ALERT], 재학습 차단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광양항 (실제)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2025-10-05~25, 10/6~11 정지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23.46%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0.44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삼천포2 (실제)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2025-12-05~25, 12/16 급락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15.81%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0.47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영흥#5 (실제)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2026-08-11~31, 3월부터 점진 하락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11.69%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0.68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설비 이상 → [ALERT] (60일 이상이면 오염)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기후 B: 폭염화 (모의)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6곳 2026-07-11~31, 28°C 초과 1°C당 −5%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4곳 10.9~15.0%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0.70~0.75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(동시성 0.67) → fine-tune 8.39% → v2 승격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전 발전소 변화 (루프 검증)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경남 3곳 ×1.25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12.2~14.2%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1.19~1.22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모델 드리프트 → fine-tune → v3 승격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48640" y="5623560"/>
            <a:ext cx="11064240" cy="329184"/>
          </a:xfrm>
          <a:prstGeom prst="roundRect">
            <a:avLst>
              <a:gd name="adj" fmla="val 50000"/>
            </a:avLst>
          </a:prstGeom>
          <a:solidFill>
            <a:srgbClr val="FBF1DC"/>
          </a:solidFill>
          <a:ln w="9525">
            <a:solidFill>
              <a:srgbClr val="B8781B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85800" y="5742432"/>
            <a:ext cx="91440" cy="91440"/>
          </a:xfrm>
          <a:prstGeom prst="ellipse">
            <a:avLst/>
          </a:prstGeom>
          <a:solidFill>
            <a:srgbClr val="B8781B"/>
          </a:solidFill>
          <a:ln w="12700">
            <a:solidFill>
              <a:srgbClr val="B8781B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562356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넣으면 오차가 8.5~9.2%에 그쳐 임계값에 못 미친다. 제도 오차는 용량 대비 절대값이라 흐린 날의 비례 손실은 작게 잡힌다.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데이터에서 찾은 이상 3건은 전부 설비였다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성능비 PR = 실제 ÷ 모델이 "그날 관측 기상"으로 낸 기대치. 지난 1년 10곳이 동시에 틀린 달은 없었다 (월별 중앙값 0.93~1.03)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7772400" cy="4543865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8503920" y="1463040"/>
            <a:ext cx="3108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659368" y="155448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</a:t>
            </a:r>
            <a:endParaRPr lang="en-US" sz="1200" dirty="0"/>
          </a:p>
        </p:txBody>
      </p:sp>
      <p:sp>
        <p:nvSpPr>
          <p:cNvPr id="10" name="Text 6"/>
          <p:cNvSpPr txBox="1"/>
          <p:nvPr/>
        </p:nvSpPr>
        <p:spPr>
          <a:xfrm>
            <a:off x="8659368" y="1847088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저성능 지속 → 10/6~11 완전 정지 → 11월 복구. 급작스럽고 되돌아오는 모양</a:t>
            </a:r>
            <a:endParaRPr lang="en-US" sz="980" dirty="0"/>
          </a:p>
        </p:txBody>
      </p:sp>
      <p:sp>
        <p:nvSpPr>
          <p:cNvPr id="11" name="Shape 7"/>
          <p:cNvSpPr/>
          <p:nvPr/>
        </p:nvSpPr>
        <p:spPr>
          <a:xfrm>
            <a:off x="8503920" y="2679192"/>
            <a:ext cx="3108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8659368" y="277063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삼천포2</a:t>
            </a:r>
            <a:endParaRPr lang="en-US" sz="1200" dirty="0"/>
          </a:p>
        </p:txBody>
      </p:sp>
      <p:sp>
        <p:nvSpPr>
          <p:cNvPr id="13" name="Text 9"/>
          <p:cNvSpPr txBox="1"/>
          <p:nvPr/>
        </p:nvSpPr>
        <p:spPr>
          <a:xfrm>
            <a:off x="8659368" y="3063240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12/16 PR 0.96 → 0.46 하루 만에 급락, 1/9 복구. 일시적 계단형</a:t>
            </a:r>
            <a:endParaRPr lang="en-US" sz="980" dirty="0"/>
          </a:p>
        </p:txBody>
      </p:sp>
      <p:sp>
        <p:nvSpPr>
          <p:cNvPr id="14" name="Shape 10"/>
          <p:cNvSpPr/>
          <p:nvPr/>
        </p:nvSpPr>
        <p:spPr>
          <a:xfrm>
            <a:off x="8503920" y="3895344"/>
            <a:ext cx="3108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5" name="Text 11"/>
          <p:cNvSpPr txBox="1"/>
          <p:nvPr/>
        </p:nvSpPr>
        <p:spPr>
          <a:xfrm>
            <a:off x="8659368" y="398678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영흥#5</a:t>
            </a:r>
            <a:endParaRPr lang="en-US" sz="1200" dirty="0"/>
          </a:p>
        </p:txBody>
      </p:sp>
      <p:sp>
        <p:nvSpPr>
          <p:cNvPr id="16" name="Text 12"/>
          <p:cNvSpPr txBox="1"/>
          <p:nvPr/>
        </p:nvSpPr>
        <p:spPr>
          <a:xfrm>
            <a:off x="8659368" y="4279392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0.96 → 8월 0.64 점진 하락. 같은 부지 영흥2는 정상이라 날씨가 아니다</a:t>
            </a:r>
            <a:endParaRPr lang="en-US" sz="980" dirty="0"/>
          </a:p>
        </p:txBody>
      </p:sp>
      <p:sp>
        <p:nvSpPr>
          <p:cNvPr id="17" name="Shape 13"/>
          <p:cNvSpPr/>
          <p:nvPr/>
        </p:nvSpPr>
        <p:spPr>
          <a:xfrm>
            <a:off x="8503920" y="5111496"/>
            <a:ext cx="310896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8659368" y="5202936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감지기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8659368" y="5495544"/>
            <a:ext cx="2834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8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건 모두 [ALERT]만 남기고 재학습을 막았다. 이 사례로 규칙 3개를 보강했다 (창 전 하락, ±7일 동시성, 60일 추세)</a:t>
            </a:r>
            <a:endParaRPr lang="en-US" sz="98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드리프트: 여러 곳이 같이 틀리거나, 위로 틀리거나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재학습이 정답인 경우는 "같은 입력에서 발전 패턴이 바뀌었는데 메타데이터 수정으로는 못 고치는" 경우다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6949440" cy="3574952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7726680" y="1463040"/>
            <a:ext cx="388620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7909560" y="157276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· 폭염화 관계 변화 (모의)</a:t>
            </a:r>
            <a:endParaRPr lang="en-US" sz="1250" dirty="0"/>
          </a:p>
        </p:txBody>
      </p:sp>
      <p:sp>
        <p:nvSpPr>
          <p:cNvPr id="10" name="Text 6"/>
          <p:cNvSpPr txBox="1"/>
          <p:nvPr/>
        </p:nvSpPr>
        <p:spPr>
          <a:xfrm>
            <a:off x="7909560" y="1920240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일사량에서 더운 시간대 발전이 과거보다 줄어든 상태가 3주 이어진다. 더운 경남 4곳만 임계값을 넘고 경북 2곳은 이내라 동시성 0.67로 모델 드리프트. 재학습 후 새 오차 8.39%로 v2 승격. 우기 패턴만 바뀐 A는 재학습하지 않는다.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7726680" y="3840480"/>
            <a:ext cx="388620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Text 8"/>
          <p:cNvSpPr txBox="1"/>
          <p:nvPr/>
        </p:nvSpPr>
        <p:spPr>
          <a:xfrm>
            <a:off x="7909560" y="3950208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광양항 복구 후 · 실제 (PR 1.15~1.22)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7909560" y="4297680"/>
            <a:ext cx="35661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2026년 4~7월 넉 달 동안 오차 10.6~11.6%, 실제가 기대보다 20% 많다. 구름·먼지·고장은 발전을 더 만들지 못하므로 틀린 쪽은 모델의 기준이다. 학습 끝에 고장 구간이 섞였거나 수리 후 "정상"이 위로 바뀐 것. PR &gt; 1.15 규칙은 한 곳이어도 재학습으로 보낸다.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48640" y="5349240"/>
            <a:ext cx="6949440" cy="329184"/>
          </a:xfrm>
          <a:prstGeom prst="roundRect">
            <a:avLst>
              <a:gd name="adj" fmla="val 50000"/>
            </a:avLst>
          </a:prstGeom>
          <a:solidFill>
            <a:srgbClr val="E6EBFB"/>
          </a:solidFill>
          <a:ln w="9525">
            <a:solidFill>
              <a:srgbClr val="3B5BDB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85800" y="5468112"/>
            <a:ext cx="91440" cy="91440"/>
          </a:xfrm>
          <a:prstGeom prst="ellipse">
            <a:avLst/>
          </a:prstGeom>
          <a:solidFill>
            <a:srgbClr val="3B5BDB"/>
          </a:solidFill>
          <a:ln w="12700">
            <a:solidFill>
              <a:srgbClr val="3B5BDB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841248" y="5349240"/>
            <a:ext cx="6583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기대보다 덜 만들 이유는 많지만 더 만들 이유는 없다 → 위로 틀리면 모델을 의심한다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48640" y="57607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20% 손실을 장마 창에 넣어도 임계값에 못 미친다 → 기후 시나리오는 맑은 폭염 창에 두었다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① 대시보드: 설비는 멈추고, 모델 드리프트는 끝까지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serving_app/static/index.html. 버튼 한 번으로 실적 구간 투입 → 판정 → 파이프라인 8단계 표시 (2026-10-01 실제 실행 캡처)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440680" cy="2786324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463040"/>
            <a:ext cx="5440680" cy="2786324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48640" y="4617720"/>
            <a:ext cx="5440680" cy="329184"/>
          </a:xfrm>
          <a:prstGeom prst="roundRect">
            <a:avLst>
              <a:gd name="adj" fmla="val 50000"/>
            </a:avLst>
          </a:prstGeom>
          <a:solidFill>
            <a:srgbClr val="FBE3E3"/>
          </a:solidFill>
          <a:ln w="9525">
            <a:solidFill>
              <a:srgbClr val="D64545"/>
            </a:solidFill>
            <a:prstDash val="solid"/>
          </a:ln>
        </p:spPr>
      </p:sp>
      <p:sp>
        <p:nvSpPr>
          <p:cNvPr id="9" name="Shape 5"/>
          <p:cNvSpPr/>
          <p:nvPr/>
        </p:nvSpPr>
        <p:spPr>
          <a:xfrm>
            <a:off x="685800" y="4736592"/>
            <a:ext cx="91440" cy="91440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41248" y="4617720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6454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고장 ×0.5 → 설비 이상 · 운영자 알림, 재학습 트리거 대기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6172200" y="4617720"/>
            <a:ext cx="5440680" cy="329184"/>
          </a:xfrm>
          <a:prstGeom prst="roundRect">
            <a:avLst>
              <a:gd name="adj" fmla="val 50000"/>
            </a:avLst>
          </a:prstGeom>
          <a:solidFill>
            <a:srgbClr val="E3F6EE"/>
          </a:solidFill>
          <a:ln w="9525">
            <a:solidFill>
              <a:srgbClr val="1B9E6A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6309360" y="4736592"/>
            <a:ext cx="91440" cy="91440"/>
          </a:xfrm>
          <a:prstGeom prst="ellipse">
            <a:avLst/>
          </a:prstGeom>
          <a:solidFill>
            <a:srgbClr val="1B9E6A"/>
          </a:solidFill>
          <a:ln w="12700">
            <a:solidFill>
              <a:srgbClr val="1B9E6A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6464808" y="4617720"/>
            <a:ext cx="5074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기후 B → 모델 드리프트 · 백그라운드 재학습 → 게이트 → v2 승격, 8단계 완료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502920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줄: 오차 16.29%, PR 0.66, D-1 예보 입력 오차 14.58%. 파이프라인은 4단계(원인 분류)에서 멈추고 재학습 트리거는 "대기 중"이다. aiops.log에는 [WARN]과 [ALERT] 두 줄이 남는다.</a:t>
            </a:r>
            <a:endParaRPr lang="en-US" sz="1050" dirty="0"/>
          </a:p>
        </p:txBody>
      </p:sp>
      <p:sp>
        <p:nvSpPr>
          <p:cNvPr id="15" name="Text 11"/>
          <p:cNvSpPr txBox="1"/>
          <p:nvPr/>
        </p:nvSpPr>
        <p:spPr>
          <a:xfrm>
            <a:off x="6172200" y="5029200"/>
            <a:ext cx="5440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줄: new_error 8.39%로 새 버전 승격. 8단계 모두 "완료"다. 상단 배지는 학습 중 "재학습 running"으로 바뀌었다가 끝나면 모델 버전이 v2로 바뀐다.</a:t>
            </a:r>
            <a:endParaRPr lang="en-US" sz="10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증빙 ② 학습 중에도 응답하고, 로그는 순서대로 남는다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/health가 재학습 running을 보여주는 동안 /predict는 production-v1로 응답한다. 끝나면 aiops.log에 [OK] promoted가 남는다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463040"/>
            <a:ext cx="5760720" cy="1651364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3703320"/>
            <a:ext cx="5760720" cy="2560320"/>
          </a:xfrm>
          <a:prstGeom prst="roundRect">
            <a:avLst>
              <a:gd name="adj" fmla="val 4286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3794760"/>
            <a:ext cx="54864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17:00:50,968 [WARNING] [WARN] drift detected (cause=equipment, plant=samcheonpo_2, err=16.29% (thr 10.36%), pr_recent=0.464, pr_before=0.766, fleet_share=0.0)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17:00:50,968 [WARNING] [ALERT] equipment anomaly suspected at samcheonpo_2 (PR 0.464) - retrain blocked, operator notified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17:00:57,357 [WARNING] [WARN] drift detected (cause=equipment, plant=yeongheung5_1, err=11.69% (thr 10.36%), pr_recent=0.678, pr_before=0.653, fleet_share=0.5)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17:00:57,357 [WARNING] [ALERT] equipment anomaly suspected at yeongheung5_1 (PR 0.678) - retrain blocked, operator notified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17:01:24,477 [WARNING] [WARN] drift detected - triggering retrain (cause=model_drift, plant=samcheonpo_2, err=12.92% (thr 10.36%), pr_recent=0.712, pr_before=0.75, fleet_share=0.67)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3B5BD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17:01:24,479 [INFO] [INFO] retrain triggered (window=last_30_days, plants=doosan_1,gyeongsang_1,samcheonpo_2,samcheonpo_3, job=345ed0baa11d)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17:01:41,314 [INFO] [OK] new_error=8.39% - production promoted: Haearim_Hourly v2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17:01:56,483 [WARNING] [WARN] drift detected (cause=equipment, plant=samcheonpo_2, err=11.59% (thr 10.36%), pr_recent=0.574, pr_before=0.935, fleet_share=0.5)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D6454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17:01:56,484 [WARNING] [ALERT] equipment anomaly suspected at samcheonpo_2 (PR 0.574) - retrain blocked, operator notified</a:t>
            </a:r>
            <a:endParaRPr lang="en-US" sz="75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463040"/>
            <a:ext cx="5120640" cy="26670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492240" y="4526280"/>
            <a:ext cx="512064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1" name="Text 7"/>
          <p:cNvSpPr txBox="1"/>
          <p:nvPr/>
        </p:nvSpPr>
        <p:spPr>
          <a:xfrm>
            <a:off x="6675120" y="46177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/predict 응답의 model_version</a:t>
            </a:r>
            <a:endParaRPr lang="en-US" sz="1150" dirty="0"/>
          </a:p>
        </p:txBody>
      </p:sp>
      <p:sp>
        <p:nvSpPr>
          <p:cNvPr id="12" name="Text 8"/>
          <p:cNvSpPr txBox="1"/>
          <p:nvPr/>
        </p:nvSpPr>
        <p:spPr>
          <a:xfrm>
            <a:off x="6675120" y="4937760"/>
            <a:ext cx="4800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재학습 전  "model_version": "production-v1"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B8781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학습 중    /health {"training": "running", "model_version": "production-v1"}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승격 후    "model_version": "production-v2"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운영 API 계약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FastAPI와 Pydantic 검증. Swagger /docs는 CDN 없이도 열린다 (사내망·샌드박스)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3383280"/>
                <a:gridCol w="3291840"/>
                <a:gridCol w="201168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Method / URL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입력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결과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용도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date, history_kwh[72], forecast[24]{ghi, cloud_cover, temperature}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hourly_kwh[24], day_total_kwh, model_version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다음 날 제출 자료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/data/upload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CSV 또는 .gz (plant_id, time, generation_kwh)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rows, rejected_rows. 형식·중복·미등록·범위 위반은 400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실적 갱신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/data/status · /data/window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plant_id, start, n_days, scale, heat_loss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발전소별 기간·행 수 / 시뮬레이션용 구간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운영 확인·시나리오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POST /predict/batch-test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records(72h+24h 이상), persist, check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days[](오차·PR·d1_error·forecast_gap), summary, drift_check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사후 평가·드리프트 판정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/jobs/current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idle / queued / running / completed / failed + 결과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재학습 상태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GET /health · /logs/aiops.log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-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model_version, training 상태 / 감지·알림·승격 로그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서비스 상태·증빙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983480"/>
            <a:ext cx="11064240" cy="1234440"/>
          </a:xfrm>
          <a:prstGeom prst="roundRect">
            <a:avLst>
              <a:gd name="adj" fmla="val 8889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507492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64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curl -X POST localhost:8010/predict -H "Content-Type: application/json" -d '{"plant_id":"samcheonpo_2","date":"2026-09-01","history_kwh":[...72],"forecast":[{"ghi":0,"cloud_cover":20,"temperature":23.1},...24]}'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{"plant_id":"samcheonpo_2","date":"2026-09-01","hourly_kwh":[0,0,...,312.5,...,0],"day_total_kwh":3410.5,"model_version":"production-v2"}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한계와 다음 단계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모의임을 밝히고, 운영에 넣기 전에 확인할 것을 적는다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548640" y="146304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31520" y="159105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3252" y="1732788"/>
            <a:ext cx="283464" cy="283464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1508760" y="15544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이력 창 마감 시각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931920" y="157276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 D-1 24:00까지 쓴다. 제출이 D-1 10시이므로 09:00 마감(15시간 공백)으로 바꾸면 조건이 정직해지고 오차는 조금 오른다.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548640" y="242316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31520" y="255117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3252" y="2692908"/>
            <a:ext cx="283464" cy="283464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508760" y="2514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8781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감시 오차의 기준</a:t>
            </a:r>
            <a:endParaRPr lang="en-US" sz="1250" dirty="0"/>
          </a:p>
        </p:txBody>
      </p:sp>
      <p:sp>
        <p:nvSpPr>
          <p:cNvPr id="15" name="Text 11"/>
          <p:cNvSpPr txBox="1"/>
          <p:nvPr/>
        </p:nvSpPr>
        <p:spPr>
          <a:xfrm>
            <a:off x="3931920" y="253288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판정은 관측 기상 예측 오차(8.29%) 기준이다. 서빙 조건(9.85%)으로 옮기면 임계값도 다시 잡아야 한다. d1_error는 이미 기록하고 있다.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548640" y="338328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731520" y="351129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3252" y="3653028"/>
            <a:ext cx="283464" cy="283464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1508760" y="347472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설비용량·좌표</a:t>
            </a:r>
            <a:endParaRPr lang="en-US" sz="1250" dirty="0"/>
          </a:p>
        </p:txBody>
      </p:sp>
      <p:sp>
        <p:nvSpPr>
          <p:cNvPr id="20" name="Text 15"/>
          <p:cNvSpPr txBox="1"/>
          <p:nvPr/>
        </p:nvSpPr>
        <p:spPr>
          <a:xfrm>
            <a:off x="3931920" y="349300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plants.csv의 용량은 시간 피크 추정값이다. 공식 용량과 좌표, 영흥#5·광양항·삼천포2의 운영 이력을 대조해야 사례가 확정된다.</a:t>
            </a:r>
            <a:endParaRPr lang="en-US" sz="1050" dirty="0"/>
          </a:p>
        </p:txBody>
      </p:sp>
      <p:sp>
        <p:nvSpPr>
          <p:cNvPr id="21" name="Shape 16"/>
          <p:cNvSpPr/>
          <p:nvPr/>
        </p:nvSpPr>
        <p:spPr>
          <a:xfrm>
            <a:off x="548640" y="434340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731520" y="447141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3252" y="4613148"/>
            <a:ext cx="283464" cy="283464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1508760" y="443484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장마철 통과율 0.45</a:t>
            </a:r>
            <a:endParaRPr 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3931920" y="445312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드리프트가 아니라 모델 성능의 한계다. 불확실한 날의 예측을 보수적으로 만드는 손실과 예보로 학습하는 것이 다음 과제다.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548640" y="5303520"/>
            <a:ext cx="11064240" cy="841248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731520" y="5431536"/>
            <a:ext cx="566928" cy="566928"/>
          </a:xfrm>
          <a:prstGeom prst="ellipse">
            <a:avLst/>
          </a:prstGeom>
          <a:solidFill>
            <a:srgbClr val="F3F5F9"/>
          </a:solidFill>
          <a:ln w="12700">
            <a:solidFill>
              <a:srgbClr val="F3F5F9"/>
            </a:solidFill>
            <a:prstDash val="solid"/>
          </a:ln>
        </p:spPr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3252" y="5573268"/>
            <a:ext cx="283464" cy="283464"/>
          </a:xfrm>
          <a:prstGeom prst="rect">
            <a:avLst/>
          </a:prstGeom>
        </p:spPr>
      </p:pic>
      <p:sp>
        <p:nvSpPr>
          <p:cNvPr id="29" name="Text 22"/>
          <p:cNvSpPr txBox="1"/>
          <p:nvPr/>
        </p:nvSpPr>
        <p:spPr>
          <a:xfrm>
            <a:off x="1508760" y="53949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시나리오 확장</a:t>
            </a:r>
            <a:endParaRPr lang="en-US" sz="1250" dirty="0"/>
          </a:p>
        </p:txBody>
      </p:sp>
      <p:sp>
        <p:nvSpPr>
          <p:cNvPr id="30" name="Text 23"/>
          <p:cNvSpPr txBox="1"/>
          <p:nvPr/>
        </p:nvSpPr>
        <p:spPr>
          <a:xfrm>
            <a:off x="3931920" y="541324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출력제어(특정 시간대만 깎임, 제도 변화 → 재학습)와 황사(지역 동시지만 일시적 → 재학습 금지)로 동시성 규칙의 경계를 보강한다.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분담과 실행 안내</a:t>
            </a:r>
            <a:endParaRPr lang="en-US" sz="27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87552"/>
            <a:ext cx="10789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저장소 github.com/leemingi0906/model-serving · 팀 공유 zip Haearim_v2_team.zip · 3~5분이면 같은 화면이 뜬다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411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A93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3A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해아림 · 태양광 시간별 발전량 예측 · 서빙 → MLOps → AIOps</a:t>
            </a:r>
            <a:endParaRPr lang="en-US" sz="9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0"/>
                <a:gridCol w="3200400"/>
                <a:gridCol w="25603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담당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구현한 것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파일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5B6478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완료 증거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 데이터·기획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시각 정렬, 이용률, 레지스트리, 업로드 검증, 기획안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data/features.py, data/plants.csv, routers/data.py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정합성 검토, 7곳 제외 근거, 계약 테스트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B 모델·MLOps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 구조, 낮 가중 손실, 게이트, MLflow alias, --register-local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lstm_model.py, train_and_register.py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게이트 통과 8.29% / 0.579, 모델 실험 2라운드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 서빙·배포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스키마, /predict, 모델 스냅샷 교체, 오프라인 Swagger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schemas.py, model_loader.py, routers/predict.py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24시간 응답, model_version v1 → v2, 학습 중 응답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D AIOps·검증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원인 분류, 재학습 트리거, 백그라운드 작업, 시나리오 9개, 대시보드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monitoring/*.py, scripts/simulate_drift.py, static/index.html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1F2B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aiops.log, 새 클론 재현 로그</a:t>
                      </a:r>
                      <a:endParaRPr lang="en-US" sz="10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marL="73152" marR="73152" marT="45720" marB="45720" anchor="ctr">
                    <a:lnL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DE2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206240"/>
            <a:ext cx="539496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43159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B5BD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팀원 PC에서 (TEAM_GUIDE.md)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663440"/>
            <a:ext cx="51206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A1F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pip install -r requirements.txt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F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scripts/quick_start.sh      # 업로드 → 동봉 모델 등록 → 서버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F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scripts/simulate_drift.py # 시나리오 9개, 재학습 자동 대기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A1F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python -m pytest -q              # 계약 테스트 14개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1B9E6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http://localhost:8010  ·  /docs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6172200" y="4206240"/>
            <a:ext cx="5440680" cy="2011680"/>
          </a:xfrm>
          <a:prstGeom prst="roundRect">
            <a:avLst>
              <a:gd name="adj" fmla="val 5455"/>
            </a:avLst>
          </a:prstGeom>
          <a:solidFill>
            <a:srgbClr val="F3F5F9"/>
          </a:solidFill>
          <a:ln w="9525">
            <a:solidFill>
              <a:srgbClr val="DDE2E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6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6355080" y="4315968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B9E6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발표의 한 줄</a:t>
            </a:r>
            <a:endParaRPr lang="en-US" sz="1250" dirty="0"/>
          </a:p>
        </p:txBody>
      </p:sp>
      <p:sp>
        <p:nvSpPr>
          <p:cNvPr id="12" name="Text 9"/>
          <p:cNvSpPr txBox="1"/>
          <p:nvPr/>
        </p:nvSpPr>
        <p:spPr>
          <a:xfrm>
            <a:off x="6355080" y="4663440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F2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"오차가 커져도 날씨면 둔다, 한 곳이면 고친다, 모두면 다시 배운다."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6355080" y="530352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47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재학습은 데이터를 더 넣는 일이 아니라 모델이 잘못 알고 있는 것을 바로잡는 일이다. 그래서 원인을 먼저 가린다.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해아림 - 태양광 시간별 발전량 예측 B2B 서비스</dc:title>
  <dc:subject>PptxGenJS Presentation</dc:subject>
  <dc:creator>해아림 팀</dc:creator>
  <cp:lastModifiedBy>해아림 팀</cp:lastModifiedBy>
  <cp:revision>1</cp:revision>
  <dcterms:created xsi:type="dcterms:W3CDTF">2026-10-01T17:15:50Z</dcterms:created>
  <dcterms:modified xsi:type="dcterms:W3CDTF">2026-10-01T17:15:50Z</dcterms:modified>
</cp:coreProperties>
</file>