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B6478"/>
                </a:solidFill>
                <a:latin typeface="Malgun Gothic"/>
              </a:defRPr>
            </a:pPr>
            <a:r>
              <a:rPr sz="1100" b="0" i="0" u="none" strike="noStrike">
                <a:solidFill>
                  <a:srgbClr val="5B6478"/>
                </a:solidFill>
                <a:latin typeface="Malgun Gothic"/>
              </a:rPr>
              <a:t>모델별 일 오차율 평균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일 오차율 평균 (%)</c:v>
                </c:pt>
              </c:strCache>
            </c:strRef>
          </c:tx>
          <c:spPr>
            <a:solidFill>
              <a:srgbClr val="3B5B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F2B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전날 그대로</c:v>
                  </c:pt>
                  <c:pt idx="1">
                    <c:v>일사량 선형</c:v>
                  </c:pt>
                  <c:pt idx="2">
                    <c:v>LSTM (mse)</c:v>
                  </c:pt>
                  <c:pt idx="3">
                    <c:v>+ 낮 가중 MAE</c:v>
                  </c:pt>
                  <c:pt idx="4">
                    <c:v>+ 발전소 임베딩 (운영 v1)</c:v>
                  </c:pt>
                  <c:pt idx="5">
                    <c:v>같은 모델, 하루 전 예보 입력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</c:v>
                </c:pt>
                <c:pt idx="1">
                  <c:v>12</c:v>
                </c:pt>
                <c:pt idx="2">
                  <c:v>8.98</c:v>
                </c:pt>
                <c:pt idx="3">
                  <c:v>8.33</c:v>
                </c:pt>
                <c:pt idx="4">
                  <c:v>8.29</c:v>
                </c:pt>
                <c:pt idx="5">
                  <c:v>9.85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F2B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F2B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</c:scaling>
        <c:delete val="0"/>
        <c:axPos val="b"/>
        <c:majorGridlines>
          <c:spPr>
            <a:ln w="6350" cap="flat">
              <a:solidFill>
                <a:srgbClr val="DD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Malgun Gothic"/>
              </a:defRPr>
            </a:pPr>
            <a:r>
              <a:rPr sz="1000" b="0" i="0" u="none" strike="noStrike">
                <a:solidFill>
                  <a:srgbClr val="5B6478"/>
                </a:solidFill>
                <a:latin typeface="Malgun Gothic"/>
              </a:rPr>
              <a:t>월별 8% 통과율 - 장마(7월) 0.45, 가을 0.71. 계절 차이는 모델이 아는 변동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8% 통과율</c:v>
                </c:pt>
              </c:strCache>
            </c:strRef>
          </c:tx>
          <c:spPr>
            <a:solidFill>
              <a:srgbClr val="1B9E6A"/>
            </a:solidFill>
            <a:ln w="25400" cap="flat">
              <a:solidFill>
                <a:srgbClr val="1B9E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B9E6A"/>
              </a:solidFill>
              <a:ln w="9525" cap="flat">
                <a:solidFill>
                  <a:srgbClr val="1B9E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25-09</c:v>
                  </c:pt>
                  <c:pt idx="1">
                    <c:v>10</c:v>
                  </c:pt>
                  <c:pt idx="2">
                    <c:v>11</c:v>
                  </c:pt>
                  <c:pt idx="3">
                    <c:v>12</c:v>
                  </c:pt>
                  <c:pt idx="4">
                    <c:v>26-01</c:v>
                  </c:pt>
                  <c:pt idx="5">
                    <c:v>02</c:v>
                  </c:pt>
                  <c:pt idx="6">
                    <c:v>03</c:v>
                  </c:pt>
                  <c:pt idx="7">
                    <c:v>04</c:v>
                  </c:pt>
                  <c:pt idx="8">
                    <c:v>05</c:v>
                  </c:pt>
                  <c:pt idx="9">
                    <c:v>06</c:v>
                  </c:pt>
                  <c:pt idx="10">
                    <c:v>07</c:v>
                  </c:pt>
                  <c:pt idx="11">
                    <c:v>08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0.4</c:v>
                </c:pt>
                <c:pt idx="1">
                  <c:v>0.56</c:v>
                </c:pt>
                <c:pt idx="2">
                  <c:v>0.71</c:v>
                </c:pt>
                <c:pt idx="3">
                  <c:v>0.54</c:v>
                </c:pt>
                <c:pt idx="4">
                  <c:v>0.64</c:v>
                </c:pt>
                <c:pt idx="5">
                  <c:v>0.63</c:v>
                </c:pt>
                <c:pt idx="6">
                  <c:v>0.64</c:v>
                </c:pt>
                <c:pt idx="7">
                  <c:v>0.57</c:v>
                </c:pt>
                <c:pt idx="8">
                  <c:v>0.61</c:v>
                </c:pt>
                <c:pt idx="9">
                  <c:v>0.64</c:v>
                </c:pt>
                <c:pt idx="10">
                  <c:v>0.45</c:v>
                </c:pt>
                <c:pt idx="11">
                  <c:v>0.56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3"/>
        </c:scaling>
        <c:delete val="0"/>
        <c:axPos val="l"/>
        <c:majorGridlines>
          <c:spPr>
            <a:ln w="6350" cap="flat">
              <a:solidFill>
                <a:srgbClr val="DDE2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E6EBFB"/>
          </a:solidFill>
          <a:ln w="12700">
            <a:solidFill>
              <a:srgbClr val="E6EB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E3F6EE"/>
          </a:solidFill>
          <a:ln w="12700">
            <a:solidFill>
              <a:srgbClr val="E3F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80160"/>
            <a:ext cx="822960" cy="822960"/>
          </a:xfrm>
          <a:prstGeom prst="ellipse">
            <a:avLst/>
          </a:prstGeom>
          <a:solidFill>
            <a:srgbClr val="E6EBFB"/>
          </a:solidFill>
          <a:ln w="12700">
            <a:solidFill>
              <a:srgbClr val="E6EBF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147767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태양광 시간별 발전량 예측 B2B 서비스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서빙 → MLOps → AIOps 루프 위에서, 오차의 원인을 가려 재학습하는 운영 설계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4663440"/>
            <a:ext cx="3749040" cy="310896"/>
          </a:xfrm>
          <a:prstGeom prst="roundRect">
            <a:avLst>
              <a:gd name="adj" fmla="val 50000"/>
            </a:avLst>
          </a:prstGeom>
          <a:solidFill>
            <a:srgbClr val="E3F6EE"/>
          </a:solidFill>
          <a:ln w="9525">
            <a:solidFill>
              <a:srgbClr val="1B9E6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9536" y="4773168"/>
            <a:ext cx="91440" cy="91440"/>
          </a:xfrm>
          <a:prstGeom prst="ellipse">
            <a:avLst/>
          </a:prstGeom>
          <a:solidFill>
            <a:srgbClr val="1B9E6A"/>
          </a:solidFill>
          <a:ln w="12700">
            <a:solidFill>
              <a:srgbClr val="1B9E6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5840" y="4663440"/>
            <a:ext cx="3419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발전소 10곳 · 3.7년 · Open-Meteo 기상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17720" y="4663440"/>
            <a:ext cx="3566160" cy="310896"/>
          </a:xfrm>
          <a:prstGeom prst="roundRect">
            <a:avLst>
              <a:gd name="adj" fmla="val 50000"/>
            </a:avLst>
          </a:prstGeom>
          <a:solidFill>
            <a:srgbClr val="FBF1DC"/>
          </a:solidFill>
          <a:ln w="9525">
            <a:solidFill>
              <a:srgbClr val="B8781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45736" y="4773168"/>
            <a:ext cx="91440" cy="91440"/>
          </a:xfrm>
          <a:prstGeom prst="ellipse">
            <a:avLst/>
          </a:prstGeom>
          <a:solidFill>
            <a:srgbClr val="B8781B"/>
          </a:solidFill>
          <a:ln w="12700">
            <a:solidFill>
              <a:srgbClr val="B8781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92040" y="4663440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9개 · 재학습 2회 · 새 클론 재현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HAIC 조별 과제 · 2026-10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예측제도는 "맞힌 날"만 돈을 준다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재생에너지 발전량 예측제도: 하루 전 10시에 다음 날 24시간을 제출하고, 일 오차율 8% 이내인 날만 정산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서빙 → MLOps → AIOps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91640"/>
            <a:ext cx="320040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8% 이내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76526"/>
            <a:ext cx="32004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조건 · 6% 이하 4원/kWh, 6~8% 3원/kWh (2025년부터 12% → 8%)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15968" y="155448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498848" y="1691640"/>
            <a:ext cx="320040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5B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 10:00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376526"/>
            <a:ext cx="32004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마감 · 그 시각에 아는 것은 과거 실적과 기상 예보뿐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83296" y="155448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66176" y="1691640"/>
            <a:ext cx="3200400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24h × N곳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266176" y="2376526"/>
            <a:ext cx="320040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중개사업자(VPP)는 매일 발전소 수십 곳의 시간별 예측을 만들어야 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54864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4015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운영자가 매일 부딪히는 세 가지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8404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예측이 틀렸는데 원인을 모른다. 날씨였나, 설비가 고장 났나, 모델이 낡았나.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오차가 커질 때마다 재학습하면 고장 난 발전소를 "정상"으로 배운다.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점검이 필요한 발전소를 예측 오차 속에서 골라낼 방법이 없다.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324612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92240" y="34015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해아림가 답하는 질문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38404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24시간 발전량을 제도 포맷으로 API 한 번에.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오차가 커지면 원인을 날씨 / 설비 / 모델로 자동 분류.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탓일 때만 재학습하고, 게이트를 통과한 모델만 교체.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탓이면 재학습을 막고 점검 알림.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 기능과 고객이 얻는 것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전력중개사업자(VPP)와 발전소 운영자를 위한 B2B API + 운영 대시보드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서빙 → MLOps → AIOps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92224"/>
            <a:ext cx="640080" cy="640080"/>
          </a:xfrm>
          <a:prstGeom prst="ellipse">
            <a:avLst/>
          </a:prstGeom>
          <a:solidFill>
            <a:srgbClr val="E6EBFB"/>
          </a:solidFill>
          <a:ln w="12700">
            <a:solidFill>
              <a:srgbClr val="E6EBF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945843"/>
            <a:ext cx="332842" cy="3328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1764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날 24시간 예측 API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213055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/predict · 72h 실적 + 24h 예보 → hourly_kwh[24], model_version. 제출 자료 준비 시간을 없앤다.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788920"/>
            <a:ext cx="110642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2980944"/>
            <a:ext cx="640080" cy="640080"/>
          </a:xfrm>
          <a:prstGeom prst="ellipse">
            <a:avLst/>
          </a:prstGeom>
          <a:solidFill>
            <a:srgbClr val="E3F6EE"/>
          </a:solidFill>
          <a:ln w="12700">
            <a:solidFill>
              <a:srgbClr val="E3F6E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859" y="3134563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45920" y="29535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업로드와 사후 대조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645920" y="331927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/data/upload · 컬럼·시각·중복·용량 검증 후 저장. 실적이 들어오면 날짜별 오차율·PR 을 계산해 누적.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110642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4169664"/>
            <a:ext cx="640080" cy="640080"/>
          </a:xfrm>
          <a:prstGeom prst="ellipse">
            <a:avLst/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4323283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45920" y="4142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원인별 드리프트 대응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645920" y="45079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21일 오차율 &gt; 임계값이면 PR·동시성·모양으로 날씨 / 설비 / 오염 / 모델 드리프트 분류. 모델일 때만 재학습.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5166360"/>
            <a:ext cx="110642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5358384"/>
            <a:ext cx="640080" cy="640080"/>
          </a:xfrm>
          <a:prstGeom prst="ellipse">
            <a:avLst/>
          </a:prstGeom>
          <a:solidFill>
            <a:srgbClr val="FBE3E3"/>
          </a:solidFill>
          <a:ln w="12700">
            <a:solidFill>
              <a:srgbClr val="FBE3E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" y="5512003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45920" y="533095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점검 알림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1645920" y="569671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발전소만 PR &lt; 0.75 이면 [ALERT]. 재학습을 막아 고장을 정상으로 학습하지 않는다.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데이터로 만들었다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발전 실적 + Open-Meteo 기상. 합성 데이터가 아니라 발전소 10곳의 3.7년치 시간별 실적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서빙 → MLOps → AIOps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1691640"/>
            <a:ext cx="22860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10곳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43938"/>
            <a:ext cx="228600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시간별 계측이 정상인 발전소 (전체 24곳 중)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55448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520440" y="1691640"/>
            <a:ext cx="22860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5B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3.7년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243938"/>
            <a:ext cx="228600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2023-01 ~ 2026-08, 321,336 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554480"/>
            <a:ext cx="26517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09360" y="1691640"/>
            <a:ext cx="228600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위치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243938"/>
            <a:ext cx="228600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Open-Meteo 관측·하루 전 예보 (일사량·운량·기온)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15400" y="1554480"/>
            <a:ext cx="26974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098280" y="1691640"/>
            <a:ext cx="2331720" cy="618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2243938"/>
            <a:ext cx="2331720" cy="45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구간 2025-09 ~ 2026-08, 3,534 발전소-일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12064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 단위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이용률 = 발전량 ÷ 설비용량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발전소 10곳을 한 모델로 통합 (용량이 달라도 같은 척도)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시각 정렬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발전 "N시" = N-1~N 구간, 기상은 TN:00 직전 1시간 평균, 24:00 → 다음날 T00:00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발전·기상 피크가 어긋나지 않게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 7곳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시간별 급변 25~52%, 피크 3~4h 지연, 장기 정지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계측 불량을 모델에 넣지 않는다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설비용량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 피크로 추정 (공식값은 plants.csv 에 채우면 반영)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오차율 분모라 공식값 확인이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/ 평가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학습은 관측 기상, 평가·서빙은 하루 전 예보도 함께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서빙 조건의 오차를 따로 잰다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시간별 통합 모델 구조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LSTM 이력 인코더 + 내일 기상·태양고도 + 날짜·발전소 임베딩 → 24시간 이용률. 파라미터 18,592개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서빙 → MLOps → AIOps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F0F2F7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7556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B5B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72시간 이용률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848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D-3 01:00 ~ D-1 24:00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F0F2F7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5800" y="30815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 24시간 기상 예보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4107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일사량 · 운량 · 기온 + sin 태양고도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F0F2F7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5800" y="44074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· 발전소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47365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sin/cos 연중일 + 발전소 one-hot(10)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49040" y="1645920"/>
            <a:ext cx="2468880" cy="1143000"/>
          </a:xfrm>
          <a:prstGeom prst="roundRect">
            <a:avLst>
              <a:gd name="adj" fmla="val 9600"/>
            </a:avLst>
          </a:prstGeom>
          <a:solidFill>
            <a:srgbClr val="F0F2F7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886200" y="17556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B5B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LSTM 32 → 16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886200" y="208483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인코더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49040" y="2971800"/>
            <a:ext cx="2468880" cy="1143000"/>
          </a:xfrm>
          <a:prstGeom prst="roundRect">
            <a:avLst>
              <a:gd name="adj" fmla="val 9600"/>
            </a:avLst>
          </a:prstGeom>
          <a:solidFill>
            <a:srgbClr val="F0F2F7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886200" y="30815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48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886200" y="341071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 피처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49040" y="4297680"/>
            <a:ext cx="2468880" cy="1143000"/>
          </a:xfrm>
          <a:prstGeom prst="roundRect">
            <a:avLst>
              <a:gd name="adj" fmla="val 9600"/>
            </a:avLst>
          </a:prstGeom>
          <a:solidFill>
            <a:srgbClr val="F0F2F7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886200" y="44074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8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886200" y="473659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발전소 임베딩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66560" y="2743200"/>
            <a:ext cx="2194560" cy="1645920"/>
          </a:xfrm>
          <a:prstGeom prst="roundRect">
            <a:avLst>
              <a:gd name="adj" fmla="val 6667"/>
            </a:avLst>
          </a:prstGeom>
          <a:solidFill>
            <a:srgbClr val="F0F2F7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903720" y="28529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Dense 64 → Dense 24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3182112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sigmoid, 낮 시간 가중 MAE (y ≥ 0.10 가중 1, 밤 0.15)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509760" y="2743200"/>
            <a:ext cx="2103120" cy="1645920"/>
          </a:xfrm>
          <a:prstGeom prst="roundRect">
            <a:avLst>
              <a:gd name="adj" fmla="val 6667"/>
            </a:avLst>
          </a:prstGeom>
          <a:solidFill>
            <a:srgbClr val="F0F2F7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64692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설비용량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646920" y="3182112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hourly_kwh[24] · 태양고도 0 시간은 0 마스킹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0" y="2212848"/>
            <a:ext cx="548640" cy="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200400" y="3538728"/>
            <a:ext cx="548640" cy="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200400" y="4864608"/>
            <a:ext cx="548640" cy="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217920" y="2212848"/>
            <a:ext cx="548640" cy="1078992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217920" y="3538728"/>
            <a:ext cx="548640" cy="27432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217920" y="4864608"/>
            <a:ext cx="548640" cy="-1024128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961120" y="3566160"/>
            <a:ext cx="548640" cy="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548640" y="5623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구조인가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2926080" y="5623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mse 8.98% → 낮 가중 MAE 8.33% → 발전소 임베딩 7.99% (실험). 학습 길이·피처 추가·앙상블은 효과 없음. 제도 오차율은 낮 시간만 세므로 손실도 낮에 집중.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대비 오차 절반, 서빙 조건까지 측정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1년 · 발전소 10곳 · 3,534 발전소-일 · 일 오차율 = 용량 대비 시간 오차의 낮 시간 평균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서빙 → MLOps → AIOps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65836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463040"/>
            <a:ext cx="20116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589520" y="16002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8.29%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2125980"/>
            <a:ext cx="16459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모델 일 오차율 (관측 기상)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601200" y="1463040"/>
            <a:ext cx="20116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9784080" y="16002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0.58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9784080" y="2125980"/>
            <a:ext cx="16459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8% 통과율 (기준선 0.30)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06640" y="2743200"/>
            <a:ext cx="20116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589520" y="28803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9.85%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0" y="3406140"/>
            <a:ext cx="16459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전 예보 입력 (서빙 조건)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601200" y="2743200"/>
            <a:ext cx="20116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9784080" y="28803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0.49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9784080" y="3406140"/>
            <a:ext cx="164592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서빙 조건 8% 통과율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406640" y="4023360"/>
            <a:ext cx="4206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589520" y="4133088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예보 입력 격차 1.5%p 는 드리프트가 아니라 입력 품질의 몫. 재학습이 아니라 예보 파이프라인(소스·최신 런·예보로 학습)으로 줄이는 과제.</a:t>
            </a:r>
            <a:endParaRPr lang="en-US" sz="105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48640" y="5212080"/>
          <a:ext cx="1106424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 하나로 통일하고, 게이트가 배포를 막는다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손실 · 배포 게이트 · 드리프트 임계값이 모두 같은 제도 오차율에서 나온다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서빙 → MLOps → AIOps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1206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3B5B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제도 오차율 (data/metrics.py)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574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시간 오차율 = |예측 − 실제| ÷ 설비용량 × 100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발전량이 용량 10% 이상인 시간만 (낮 시간)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일 오차율 = 그 평균 → 8% 이하면 정산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 = Σ실제 ÷ Σ(관측 기상으로 낸 기대치)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1.0 = 설비가 모델이 아는 정상 상태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0" y="1554480"/>
            <a:ext cx="5669280" cy="676656"/>
          </a:xfrm>
          <a:prstGeom prst="roundRect">
            <a:avLst>
              <a:gd name="adj" fmla="val 16216"/>
            </a:avLst>
          </a:prstGeom>
          <a:solidFill>
            <a:srgbClr val="F0F2F7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126480" y="16642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배포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16276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8% 통과율 ≥ 0.45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1920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기준선(전날 그대로·일사량 선형 0.30) × 1.5. 실제 결과 0.579 로 통과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2304288"/>
            <a:ext cx="5669280" cy="676656"/>
          </a:xfrm>
          <a:prstGeom prst="roundRect">
            <a:avLst>
              <a:gd name="adj" fmla="val 16216"/>
            </a:avLst>
          </a:prstGeom>
          <a:solidFill>
            <a:srgbClr val="F0F2F7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126480" y="241401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배포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Production 이상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26700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테스트 1년에서 챔피언/챌린저 비교. 동률 허용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3054096"/>
            <a:ext cx="5669280" cy="676656"/>
          </a:xfrm>
          <a:prstGeom prst="roundRect">
            <a:avLst>
              <a:gd name="adj" fmla="val 16216"/>
            </a:avLst>
          </a:prstGeom>
          <a:solidFill>
            <a:srgbClr val="F0F2F7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126480" y="316382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재학습(fine-tune)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1272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held-out 날짜에서 현 Production 보다 오차가 낮을 때만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34198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30일 중 뒤 20% 를 남겨 비교. 통과 못 하면 기존 버전 유지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110642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7724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드리프트 임계값은 검증 오차에서 유도한다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43484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= max(8%, 운영 모델 검증 오차 8.29% × 1.25) = 10.36%. 고정 8% 를 쓰면 실제 데이터에서는 평상시(8.3%)가 매일 드리프트가 된다.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21일 일 오차율 평균이 임계값을 넘을 때만 원인 분류로 넘어간다. 7일 미만이면 판단 보류.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서빙 조건의 오차(하루 전 예보 입력)와 예보 괴리(낮 시간 관측-예보 일사량 차이)를 같이 기록해 "예보가 빗나간 날" 을 설명한다.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오차가 커졌다 ≠ 모델이 틀렸다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발전소가 기대보다 덜 만들 이유는 많지만 더 만들 이유는 없다. 세 가지 신호로 원인을 가른다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서빙 → MLOps → AIOps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103120" cy="1920240"/>
          </a:xfrm>
          <a:prstGeom prst="roundRect">
            <a:avLst>
              <a:gd name="adj" fmla="val 5714"/>
            </a:avLst>
          </a:prstGeom>
          <a:solidFill>
            <a:srgbClr val="F0F2F7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85800" y="1664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오차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11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21일 오차율 &gt; 10.36% ?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아니오 → ok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2514600"/>
            <a:ext cx="137160" cy="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88920" y="1554480"/>
            <a:ext cx="2103120" cy="1920240"/>
          </a:xfrm>
          <a:prstGeom prst="roundRect">
            <a:avLst>
              <a:gd name="adj" fmla="val 5714"/>
            </a:avLst>
          </a:prstGeom>
          <a:solidFill>
            <a:srgbClr val="F0F2F7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926080" y="1664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동시성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2011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시기(±7일) 다른 발전소도 절반 이상 초과? 또는 21일 PR &gt; 1.15?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→ model_drift → 재학습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2040" y="2514600"/>
            <a:ext cx="137160" cy="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29200" y="1554480"/>
            <a:ext cx="2103120" cy="1920240"/>
          </a:xfrm>
          <a:prstGeom prst="roundRect">
            <a:avLst>
              <a:gd name="adj" fmla="val 5714"/>
            </a:avLst>
          </a:prstGeom>
          <a:solidFill>
            <a:srgbClr val="F0F2F7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166360" y="1664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장기 추세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166360" y="2011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60일+ 기록에서 PR 단조 하락?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→ soiling → 청소 권고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0" y="2514600"/>
            <a:ext cx="137160" cy="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69480" y="1554480"/>
            <a:ext cx="2103120" cy="1920240"/>
          </a:xfrm>
          <a:prstGeom prst="roundRect">
            <a:avLst>
              <a:gd name="adj" fmla="val 5714"/>
            </a:avLst>
          </a:prstGeom>
          <a:solidFill>
            <a:srgbClr val="F0F2F7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406640" y="1664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급락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2011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7일 PR &lt; 0.75 ?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→ equipment → [ALERT], 재학습 차단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372600" y="2514600"/>
            <a:ext cx="137160" cy="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509760" y="1554480"/>
            <a:ext cx="2103120" cy="1920240"/>
          </a:xfrm>
          <a:prstGeom prst="roundRect">
            <a:avLst>
              <a:gd name="adj" fmla="val 5714"/>
            </a:avLst>
          </a:prstGeom>
          <a:solidFill>
            <a:srgbClr val="F0F2F7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646920" y="1664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5B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나머지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646920" y="20116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정상인데 오차만 큼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646920" y="2834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B5B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 → 예보 품질 알림만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2468880"/>
                <a:gridCol w="1371600"/>
                <a:gridCol w="1463040"/>
                <a:gridCol w="2560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오차율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 (실제 ÷ 관측기상 기대치)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몇 곳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날씨·예보 빗나감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≈ 1.0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지역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며칠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알림만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 고장·인버터 정지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크게 커짐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 0.75 급락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곳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계단형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[ALERT], 재학습 차단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오염·노후·그늘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서서히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0.75~0.92 단조 하락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곳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몇 주~몇 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청소·점검 권고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드리프트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곳 같은 방향, 또는 &gt; 1.15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절반 이상 동시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fine-tune → 게이트 → 재배포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계측·데이터 품질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들쭉날쭉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피크 지연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곳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 어긋남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업로드 검증에서 거부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AIOps 파이프라인 8단계와 운영 안전장치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대시보드가 aiops.log 의 [WARN] → [INFO] → [OK] 를 읽어 단계를 켠다. 재학습은 model_drift 일 때만 5단계로 넘어간다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서빙 → MLOps → AIOps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298448" cy="1143000"/>
          </a:xfrm>
          <a:prstGeom prst="roundRect">
            <a:avLst>
              <a:gd name="adj" fmla="val 8000"/>
            </a:avLst>
          </a:prstGeom>
          <a:solidFill>
            <a:srgbClr val="E3F6EE"/>
          </a:solidFill>
          <a:ln w="12700">
            <a:solidFill>
              <a:srgbClr val="1B9E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6276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수신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38528" y="1554480"/>
            <a:ext cx="1298448" cy="1143000"/>
          </a:xfrm>
          <a:prstGeom prst="roundRect">
            <a:avLst>
              <a:gd name="adj" fmla="val 8000"/>
            </a:avLst>
          </a:prstGeom>
          <a:solidFill>
            <a:srgbClr val="E3F6EE"/>
          </a:solidFill>
          <a:ln w="12700">
            <a:solidFill>
              <a:srgbClr val="1B9E6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29968" y="16276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모니터링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029968" y="20116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기록 누적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28416" y="1554480"/>
            <a:ext cx="1298448" cy="1143000"/>
          </a:xfrm>
          <a:prstGeom prst="roundRect">
            <a:avLst>
              <a:gd name="adj" fmla="val 8000"/>
            </a:avLst>
          </a:prstGeom>
          <a:solidFill>
            <a:srgbClr val="FBF1DC"/>
          </a:solidFill>
          <a:ln w="12700">
            <a:solidFill>
              <a:srgbClr val="B8781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19856" y="16276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드리프트 감지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3419856" y="20116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21일 오차율 vs 임계값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18304" y="1554480"/>
            <a:ext cx="1298448" cy="1143000"/>
          </a:xfrm>
          <a:prstGeom prst="roundRect">
            <a:avLst>
              <a:gd name="adj" fmla="val 8000"/>
            </a:avLst>
          </a:prstGeom>
          <a:solidFill>
            <a:srgbClr val="FBF1DC"/>
          </a:solidFill>
          <a:ln w="12700">
            <a:solidFill>
              <a:srgbClr val="B878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9744" y="16276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분류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809744" y="20116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 · 발전소 동시성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08192" y="1554480"/>
            <a:ext cx="1298448" cy="1143000"/>
          </a:xfrm>
          <a:prstGeom prst="roundRect">
            <a:avLst>
              <a:gd name="adj" fmla="val 8000"/>
            </a:avLst>
          </a:prstGeom>
          <a:solidFill>
            <a:srgbClr val="E3F6EE"/>
          </a:solidFill>
          <a:ln w="12700">
            <a:solidFill>
              <a:srgbClr val="1B9E6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99632" y="16276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재학습 트리거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199632" y="20116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model_drift 일 때만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98080" y="1554480"/>
            <a:ext cx="1298448" cy="1143000"/>
          </a:xfrm>
          <a:prstGeom prst="roundRect">
            <a:avLst>
              <a:gd name="adj" fmla="val 8000"/>
            </a:avLst>
          </a:prstGeom>
          <a:solidFill>
            <a:srgbClr val="E3F6EE"/>
          </a:solidFill>
          <a:ln w="12700">
            <a:solidFill>
              <a:srgbClr val="1B9E6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0" y="16276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학습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20116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fine-tuning 10 epoch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887968" y="1554480"/>
            <a:ext cx="1298448" cy="1143000"/>
          </a:xfrm>
          <a:prstGeom prst="roundRect">
            <a:avLst>
              <a:gd name="adj" fmla="val 8000"/>
            </a:avLst>
          </a:prstGeom>
          <a:solidFill>
            <a:srgbClr val="E3F6EE"/>
          </a:solidFill>
          <a:ln w="12700">
            <a:solidFill>
              <a:srgbClr val="1B9E6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79408" y="16276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등록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979408" y="20116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MLflow Registry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277856" y="1554480"/>
            <a:ext cx="1298448" cy="1143000"/>
          </a:xfrm>
          <a:prstGeom prst="roundRect">
            <a:avLst>
              <a:gd name="adj" fmla="val 8000"/>
            </a:avLst>
          </a:prstGeom>
          <a:solidFill>
            <a:srgbClr val="E3F6EE"/>
          </a:solidFill>
          <a:ln w="12700">
            <a:solidFill>
              <a:srgbClr val="1B9E6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369296" y="162763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0369296" y="201168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@champion 교체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0175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1520" y="3383280"/>
            <a:ext cx="594360" cy="594360"/>
          </a:xfrm>
          <a:prstGeom prst="ellipse">
            <a:avLst/>
          </a:prstGeom>
          <a:solidFill>
            <a:srgbClr val="E6EBFB"/>
          </a:solidFill>
          <a:ln w="12700">
            <a:solidFill>
              <a:srgbClr val="E6EBFB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3525926"/>
            <a:ext cx="309067" cy="309067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1508760" y="31546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재학습은 백그라운드 작업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1508760" y="349300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/jobs/current 로 상태 조회. 학습 중에도 /predict 는 기존 버전으로 응답. 진행 중이면 새 요청은 같은 작업으로 합친다.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172200" y="301752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355080" y="3383280"/>
            <a:ext cx="594360" cy="594360"/>
          </a:xfrm>
          <a:prstGeom prst="ellipse">
            <a:avLst/>
          </a:prstGeom>
          <a:solidFill>
            <a:srgbClr val="E6EBFB"/>
          </a:solidFill>
          <a:ln w="12700">
            <a:solidFill>
              <a:srgbClr val="E6EBFB"/>
            </a:solidFill>
            <a:prstDash val="solid"/>
          </a:ln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726" y="3525926"/>
            <a:ext cx="309067" cy="309067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7132320" y="31546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MLflow alias @champion</a:t>
            </a:r>
            <a:endParaRPr lang="en-US" sz="1300" dirty="0"/>
          </a:p>
        </p:txBody>
      </p:sp>
      <p:sp>
        <p:nvSpPr>
          <p:cNvPr id="39" name="Text 35"/>
          <p:cNvSpPr txBox="1"/>
          <p:nvPr/>
        </p:nvSpPr>
        <p:spPr>
          <a:xfrm>
            <a:off x="7132320" y="349300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승격 = alias 이동. 게이트에 걸리면 기존 버전 유지, 실패해도 서빙은 그대로.</a:t>
            </a:r>
            <a:endParaRPr lang="en-US" sz="1050" dirty="0"/>
          </a:p>
        </p:txBody>
      </p:sp>
      <p:sp>
        <p:nvSpPr>
          <p:cNvPr id="40" name="Shape 36"/>
          <p:cNvSpPr/>
          <p:nvPr/>
        </p:nvSpPr>
        <p:spPr>
          <a:xfrm>
            <a:off x="548640" y="45720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731520" y="4937760"/>
            <a:ext cx="594360" cy="594360"/>
          </a:xfrm>
          <a:prstGeom prst="ellipse">
            <a:avLst/>
          </a:prstGeom>
          <a:solidFill>
            <a:srgbClr val="E6EBFB"/>
          </a:solidFill>
          <a:ln w="12700">
            <a:solidFill>
              <a:srgbClr val="E6EBFB"/>
            </a:solidFill>
            <a:prstDash val="solid"/>
          </a:ln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5080406"/>
            <a:ext cx="309067" cy="309067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1508760" y="4709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재학습 데이터 선별</a:t>
            </a:r>
            <a:endParaRPr lang="en-US" sz="1300" dirty="0"/>
          </a:p>
        </p:txBody>
      </p:sp>
      <p:sp>
        <p:nvSpPr>
          <p:cNvPr id="44" name="Text 39"/>
          <p:cNvSpPr txBox="1"/>
          <p:nvPr/>
        </p:nvSpPr>
        <p:spPr>
          <a:xfrm>
            <a:off x="1508760" y="504748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시기에 PR &lt; 0.75 인 발전소는 동시성에 묶여도 제외. 영흥#5를 섞으면 새 모델 오차가 10.41 → 10.95% 로 나빠지는 것을 확인.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6172200" y="45720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>
            <a:off x="6355080" y="4937760"/>
            <a:ext cx="594360" cy="594360"/>
          </a:xfrm>
          <a:prstGeom prst="ellipse">
            <a:avLst/>
          </a:prstGeom>
          <a:solidFill>
            <a:srgbClr val="E6EBFB"/>
          </a:solidFill>
          <a:ln w="12700">
            <a:solidFill>
              <a:srgbClr val="E6EBFB"/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7726" y="5080406"/>
            <a:ext cx="309067" cy="309067"/>
          </a:xfrm>
          <a:prstGeom prst="rect">
            <a:avLst/>
          </a:prstGeom>
        </p:spPr>
      </p:pic>
      <p:sp>
        <p:nvSpPr>
          <p:cNvPr id="48" name="Text 42"/>
          <p:cNvSpPr txBox="1"/>
          <p:nvPr/>
        </p:nvSpPr>
        <p:spPr>
          <a:xfrm>
            <a:off x="7132320" y="4709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검증과 테스트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7132320" y="5047488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업로드는 컬럼·시각·중복·미등록 발전소·용량 범위를 검사해 거부. 계약 테스트 13개(pytest 0.2초). 새 클론에서 run_all.sh 로 전체 재현.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9개: 날씨 3 · 설비 4 · 모델 드리프트 2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실적 구간을 그대로 또는 변형해 투입. 재학습은 두 번만 걸렸고 둘 다 게이트를 통과했다 (새 클론 재현 로그 동일)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서빙 → MLOps → AIOps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011680"/>
                <a:gridCol w="2834640"/>
                <a:gridCol w="1463040"/>
                <a:gridCol w="1097280"/>
                <a:gridCol w="2926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시나리오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오차율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→ 대응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삼천포2 2026-08-11~31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7.17%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ok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장마철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삼천포2 2026-06-20~07-10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9.19%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1.05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ok (임계값 이내, 모델이 아는 계절)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날씨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기후 A 우기 패턴만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6곳 장마철 실적 그대로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6.9~9.2%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0.98~1.11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ok (입력 분포만 변화)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 고장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삼천포2, 8일째부터 ×0.5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16.29%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0.46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equipment → [ALERT], 재학습 차단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광양항 (실제)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2025-10-05~25, 10/6~11 정지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23.46%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equipment → [ALERT]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삼천포2 (실제)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2025-12-05~25, 12/16 급락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15.81%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0.47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equipment → [ALERT]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영흥#5 (실제)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2026-08-11~31, 3월부터 점진 하락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11.69%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0.68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equipment → [ALERT] (60일+면 soiling)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기후 B 폭염화 (모의)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6곳 2026-07-11~31, 28°C 초과 1°C당 −5%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경남 4곳 10.9~15.0%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0.70~0.75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model_drift (동시성 0.67) → fine-tune 8.39% → v2 승격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발전소 변화 (루프 검증)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경남 3곳 ×1.25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12.2~14.2%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1.19~1.22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model_drift → fine-tune → v3 승격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64240" cy="310896"/>
          </a:xfrm>
          <a:prstGeom prst="roundRect">
            <a:avLst>
              <a:gd name="adj" fmla="val 50000"/>
            </a:avLst>
          </a:prstGeom>
          <a:solidFill>
            <a:srgbClr val="FBF1DC"/>
          </a:solidFill>
          <a:ln w="9525">
            <a:solidFill>
              <a:srgbClr val="B8781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6656" y="5733288"/>
            <a:ext cx="91440" cy="91440"/>
          </a:xfrm>
          <a:prstGeom prst="ellipse">
            <a:avLst/>
          </a:prstGeom>
          <a:solidFill>
            <a:srgbClr val="B8781B"/>
          </a:solidFill>
          <a:ln w="12700">
            <a:solidFill>
              <a:srgbClr val="B8781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5623560"/>
            <a:ext cx="10735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20% 손실을 장마 창에 넣으면 오차 8.5~9.2% 로 임계값 미달 — 제도 오차는 용량 대비 절대값이라 흐린 날의 비례 손실은 작게 잡힌다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데이터에서 찾은 이상 3건은 전부 설비였다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성능비 PR = 실제 ÷ 모델이 "그날 관측 기상"으로 낸 기대치. 지난 1년 10곳이 동시에 틀린 달은 없었다 (월별 중앙값 0.93~1.03)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서빙 → MLOps → AIOps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680960" cy="4663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58200" y="1463040"/>
            <a:ext cx="3154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613648" y="1554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광양항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613648" y="184708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저성능 지속 → 10/6~11 완전 정지 → 11월 복구. sudden + recurring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8458200" y="2679192"/>
            <a:ext cx="3154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613648" y="2770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삼천포2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613648" y="30632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12/16 PR 0.96 → 0.46 하루 만에, 1/9 복구. sudden, 일시적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8458200" y="3895344"/>
            <a:ext cx="3154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613648" y="39867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영흥#5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613648" y="427939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3→8월 0.96 → 0.64 점진 하락, 같은 부지 영흥2는 정상 → 날씨 아님. incremental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8458200" y="5111496"/>
            <a:ext cx="3154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613648" y="52029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감지기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613648" y="549554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건 모두 [ALERT] 만 남기고 재학습 차단. 규칙 3개를 이 사례로 보강 (창 전 하락, ±7일 동시성, 60일 추세)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드리프트: 여러 곳이 같이 틀리거나, 위로 틀리거나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재학습이 정답인 경우는 "같은 입력에서 발전 패턴이 바뀌었는데 메타데이터 수정으로 못 고치는" 경우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서빙 → MLOps → AIOps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949440" cy="35749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6680" y="1463040"/>
            <a:ext cx="38862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909560" y="15727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기후 B · 폭염화 관계 변화 (모의)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19202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일사량에서 더운 시간대 발전이 과거보다 줄어든 상태가 3주 지속. 더운 경남 4곳만 임계값을 넘고 경북 2곳은 이내 → 동시성 0.67 → 재학습 → 새 오차 8.39% 로 v2 승격. 우기 패턴만 바뀐 A 는 재학습하지 않는다.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26680" y="3840480"/>
            <a:ext cx="38862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909560" y="3950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B5B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광양항 복구 후 · 실제 (PR 1.15~1.22)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4297680"/>
            <a:ext cx="3566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2026-04~07 넉 달 동안 오차 10.6~11.6%, 실제가 기대보다 20% 많음. 구름·먼지·고장은 발전을 더 만들지 못하므로 틀린 쪽은 모델의 기준. 학습 끝에 고장 구간이 섞였거나 수리 후 "정상"이 위로 바뀐 것. PR &gt; 1.15 규칙이 한 곳이어도 재학습으로 보낸다.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48640" y="5349240"/>
            <a:ext cx="6949440" cy="310896"/>
          </a:xfrm>
          <a:prstGeom prst="roundRect">
            <a:avLst>
              <a:gd name="adj" fmla="val 50000"/>
            </a:avLst>
          </a:prstGeom>
          <a:solidFill>
            <a:srgbClr val="E6EBFB"/>
          </a:solidFill>
          <a:ln w="9525">
            <a:solidFill>
              <a:srgbClr val="3B5B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76656" y="5458968"/>
            <a:ext cx="91440" cy="91440"/>
          </a:xfrm>
          <a:prstGeom prst="ellipse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5349240"/>
            <a:ext cx="6620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5B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발전소는 기대보다 덜 만들 이유는 많지만 더 만들 이유는 없다 → 위로 틀리면 모델을 의심한다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760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20% 손실을 장마 창에 넣어도 임계값 미달 → 기후 시나리오는 맑은 폭염 창에 두었다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증빙 ① 대시보드: 설비는 멈추고, 모델 드리프트는 끝까지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serving_app/static/index.html · 버튼 한 번으로 실적 구간 투입 → 판정 → 파이프라인 8단계 표시 (2026-10-01 실제 실행 캡처)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서빙 → MLOps → AIOps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440680" cy="278632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63040"/>
            <a:ext cx="5440680" cy="278632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617720"/>
            <a:ext cx="5440680" cy="310896"/>
          </a:xfrm>
          <a:prstGeom prst="roundRect">
            <a:avLst>
              <a:gd name="adj" fmla="val 50000"/>
            </a:avLst>
          </a:prstGeom>
          <a:solidFill>
            <a:srgbClr val="FBE3E3"/>
          </a:solidFill>
          <a:ln w="9525">
            <a:solidFill>
              <a:srgbClr val="D6454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76656" y="4727448"/>
            <a:ext cx="91440" cy="9144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4617720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4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고장 ×0.5 → equipment · 운영자 알림, 재학습 트리거 대기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172200" y="4617720"/>
            <a:ext cx="5440680" cy="310896"/>
          </a:xfrm>
          <a:prstGeom prst="roundRect">
            <a:avLst>
              <a:gd name="adj" fmla="val 50000"/>
            </a:avLst>
          </a:prstGeom>
          <a:solidFill>
            <a:srgbClr val="E3F6EE"/>
          </a:solidFill>
          <a:ln w="9525">
            <a:solidFill>
              <a:srgbClr val="1B9E6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300216" y="4727448"/>
            <a:ext cx="91440" cy="91440"/>
          </a:xfrm>
          <a:prstGeom prst="ellipse">
            <a:avLst/>
          </a:prstGeom>
          <a:solidFill>
            <a:srgbClr val="1B9E6A"/>
          </a:solidFill>
          <a:ln w="12700">
            <a:solidFill>
              <a:srgbClr val="1B9E6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46520" y="4617720"/>
            <a:ext cx="511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기후 B → model_drift · 백그라운드 재학습 → 게이트 → v2 승격, 8단계 완료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029200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줄: 오차 16.29%, PR 0.66, D-1 예보 입력 오차 14.58%. 파이프라인은 4단계(원인 분류)에서 멈추고 재학습 트리거는 "대기 중". aiops.log 에는 [WARN] + [ALERT] 두 줄.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6172200" y="5029200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줄: new_error 8.39% 로 새 버전 승격. 8단계 모두 "완료". 상단 배지는 학습 중 "재학습 running" 으로 바뀌었다가 끝나면 모델 버전이 v2 로 바뀐다.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증빙 ② 학습 중에도 응답하고, 로그가 순서대로 남는다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/health 가 재학습 running 을 보여주는 동안 /predict 는 production-v1 로 응답. 끝나면 aiops.log 에 [OK] promoted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서빙 → MLOps → AIOps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760720" cy="16513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703320"/>
            <a:ext cx="5760720" cy="2560320"/>
          </a:xfrm>
          <a:prstGeom prst="roundRect">
            <a:avLst>
              <a:gd name="adj" fmla="val 4286"/>
            </a:avLst>
          </a:prstGeom>
          <a:solidFill>
            <a:srgbClr val="F0F2F7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37947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7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2026-10-01 17:00:50,968 [WARNING] [WARN] drift detected (cause=equipment, plant=samcheonpo_2, err=16.29% (thr 10.36%), pr_recent=0.464, pr_before=0.766, fleet_share=0.0)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2026-10-01 17:00:50,968 [WARNING] [ALERT] equipment anomaly suspected at samcheonpo_2 (PR 0.464) - retrain blocked, operator notified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87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2026-10-01 17:00:57,357 [WARNING] [WARN] drift detected (cause=equipment, plant=yeongheung5_1, err=11.69% (thr 10.36%), pr_recent=0.678, pr_before=0.653, fleet_share=0.5)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2026-10-01 17:00:57,357 [WARNING] [ALERT] equipment anomaly suspected at yeongheung5_1 (PR 0.678) - retrain blocked, operator notified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87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2026-10-01 17:01:24,477 [WARNING] [WARN] drift detected - triggering retrain (cause=model_drift, plant=samcheonpo_2, err=12.92% (thr 10.36%), pr_recent=0.712, pr_before=0.75, fleet_share=0.67)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B5B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2026-10-01 17:01:24,479 [INFO] [INFO] retrain triggered (window=last_30_days, plants=doosan_1,gyeongsang_1,samcheonpo_2,samcheonpo_3, job=345ed0baa11d)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B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2026-10-01 17:01:41,314 [INFO] [OK] new_error=8.39% - production promoted: Haearim_Hourly v2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B87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2026-10-01 17:01:56,483 [WARNING] [WARN] drift detected (cause=equipment, plant=samcheonpo_2, err=11.59% (thr 10.36%), pr_recent=0.574, pr_before=0.935, fleet_share=0.5)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D64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2026-10-01 17:01:56,484 [WARNING] [ALERT] equipment anomaly suspected at samcheonpo_2 (PR 0.574) - retrain blocked, operator notified</a:t>
            </a:r>
            <a:endParaRPr lang="en-US" sz="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5120640" cy="2667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92240" y="4526280"/>
            <a:ext cx="51206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6675120" y="4617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B5B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/predict 응답 model_version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6675120" y="4937760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재학습 전  "model_version": "production-v1"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878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학습 중    /health {"training": "running", "model_version": "production-v1"}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승격 후    "model_version": "production-v2"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API 계약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+ Pydantic 검증. Swagger /docs 는 CDN 없이도 열린다 (사내망·샌드박스)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서빙 → MLOps → AIOps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383280"/>
                <a:gridCol w="3291840"/>
                <a:gridCol w="20116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Method / URL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 /predict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plant_id, date, history_kwh[72], forecast[24]{ghi, cloud_cover, temperature}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hourly_kwh[24], day_total_kwh, model_version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날 제출 자료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 /data/upload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CSV/.gz (plant_id, time, generation_kwh)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rows, rejected_rows · 형식·중복·미등록·범위 위반은 400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실적 갱신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 /data/status · /data/window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plant_id, start, n_days, scale, heat_loss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발전소별 기간·행 수 / 시뮬레이션용 구간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확인·시나리오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POST /predict/batch-test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records(72h+24h 이상), persist, check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days[] (오차·PR·d1_error·forecast_gap), summary, drift_check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사후 평가·드리프트 판정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 /jobs/current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idle / queued / running / completed / failed + 결과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재학습 상태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 /health · /logs/aiops.log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model_version, training 상태 / 감지·알림·승격 로그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상태·증빙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98348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0F2F7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507492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-X POST localhost:8010/predict -H "Content-Type: application/json" -d '{"plant_id":"samcheonpo_2","date":"2026-09-01","history_kwh":[...72],"forecast":[{"ghi":0,"cloud_cover":20,"temperature":23.1},...24]}'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{"plant_id":"samcheonpo_2","date":"2026-09-01","hourly_kwh":[0,0,...,312.5,...,0],"day_total_kwh":3410.5,"model_version":"production-v2"}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 다음 단계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모의임을 밝히고, 운영 투입 전에 확인할 것을 적는다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서빙 → MLOps → AIOps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91056"/>
            <a:ext cx="566928" cy="566928"/>
          </a:xfrm>
          <a:prstGeom prst="ellipse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83" y="1727119"/>
            <a:ext cx="294803" cy="29480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1554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창 마감 시각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3931920" y="157276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D-1 24:00 까지 쓴다. 제출이 D-1 10시이므로 09:00 마감(15시간 공백)으로 바꾸면 조건이 정직해지고 오차는 조금 오른다.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423160"/>
            <a:ext cx="110642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1520" y="2551176"/>
            <a:ext cx="566928" cy="566928"/>
          </a:xfrm>
          <a:prstGeom prst="ellipse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83" y="2687239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08760" y="2514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78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감시 오차의 기준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931920" y="253288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판정은 관측 기상 예측 오차(8.29%) 기준. 서빙 조건(9.85%)으로 옮기면 임계값도 같이 다시 잡아야 한다. d1_error 는 이미 기록 중.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3383280"/>
            <a:ext cx="110642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511296"/>
            <a:ext cx="566928" cy="566928"/>
          </a:xfrm>
          <a:prstGeom prst="ellipse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583" y="3647359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08760" y="3474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B5B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설비용량·좌표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3931920" y="349300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plants.csv 용량은 시간 피크 추정값. 공식 용량과 좌표, 영흥#5·광양항·삼천포2 운영 이력을 대조해야 사례가 확정된다.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4343400"/>
            <a:ext cx="110642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31520" y="4471416"/>
            <a:ext cx="566928" cy="566928"/>
          </a:xfrm>
          <a:prstGeom prst="ellipse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583" y="4607479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08760" y="4434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장마철 통과율 0.45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3931920" y="445312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드리프트가 아니라 모델 성능 한계. 불확실한 날의 예측을 보수적으로 만드는 손실·예보로 학습이 다음 과제.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5303520"/>
            <a:ext cx="110642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31520" y="5431536"/>
            <a:ext cx="566928" cy="566928"/>
          </a:xfrm>
          <a:prstGeom prst="ellipse">
            <a:avLst/>
          </a:prstGeom>
          <a:solidFill>
            <a:srgbClr val="EEF1F6"/>
          </a:solidFill>
          <a:ln w="12700">
            <a:solidFill>
              <a:srgbClr val="EEF1F6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583" y="5567599"/>
            <a:ext cx="294803" cy="294803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508760" y="5394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확장</a:t>
            </a:r>
            <a:endParaRPr lang="en-US" sz="1250" dirty="0"/>
          </a:p>
        </p:txBody>
      </p:sp>
      <p:sp>
        <p:nvSpPr>
          <p:cNvPr id="30" name="Text 23"/>
          <p:cNvSpPr txBox="1"/>
          <p:nvPr/>
        </p:nvSpPr>
        <p:spPr>
          <a:xfrm>
            <a:off x="3931920" y="5413248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출력제어(특정 시간대만 깎임, 제도 변화 → 재학습)와 황사(지역 동시지만 일시적 → 재학습 금지)로 동시성 규칙의 경계를 보강.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분담과 실행 안내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github.com/leemingi0906/model-serving · 팀 공유 zip 해아림_v2_team.zip · 3~5분이면 같은 화면이 뜬다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해아림 · 서빙 → MLOps → AIOps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840480"/>
                <a:gridCol w="320040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구현한 것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 증거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 데이터·기획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시각 정렬·이용률·레지스트리·업로드 검증·기획안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data/features.py, data/plants.csv, routers/data.py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정합성 검토, 7곳 제외 근거, 계약 테스트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 모델·MLOps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LSTM 구조·낮 가중 손실·게이트·MLflow alias·--register-local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lstm_model.py, train_and_register.py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게이트 통과 8.29% / 0.579, 모델 실험 2라운드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 서빙·배포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스키마·/predict·모델 스냅샷 교체·오프라인 Swagger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schemas.py, model_loader.py, routers/predict.py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24h 응답, model_version v1 → v2, 학습 중 응답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 AIOps·검증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 분류·재학습 트리거·백그라운드 작업·시나리오 9개·대시보드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monitoring/*.py, scripts/simulate_drift.py, static/index.html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aiops.log, 새 클론 재현 로그 43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3152" marR="73152" marT="45720" marB="45720" anchor="ctr">
                    <a:lnL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20624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0F2F7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43159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B5BD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PC 에서 (TEAM_GUIDE.md)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6634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scripts/quick_start.sh      # 업로드 → 동봉 모델 등록 → 서버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scripts/simulate_drift.py # 시나리오 9개, 재학습 자동 대기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pytest -q              # 계약 테스트 13개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9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http://localhost:8010  ·  /docs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72200" y="420624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F0F2F7"/>
          </a:solidFill>
          <a:ln w="9525">
            <a:solidFill>
              <a:srgbClr val="DDE2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355080" y="43159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9E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발표의 한 줄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4663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F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"오차가 커져도 날씨면 둔다, 한 곳이면 고친다, 모두면 다시 배운다."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53035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재학습은 데이터를 더 넣는 일이 아니라, 모델이 잘못 알고 있는 것을 바로잡는 일이다. 그래서 원인을 먼저 가린다.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해아림 - 태양광 시간별 발전량 예측 B2B 서비스</dc:title>
  <dc:subject>PptxGenJS Presentation</dc:subject>
  <dc:creator>해아림 team</dc:creator>
  <cp:lastModifiedBy>해아림 team</cp:lastModifiedBy>
  <cp:revision>1</cp:revision>
  <dcterms:created xsi:type="dcterms:W3CDTF">2026-10-01T17:05:42Z</dcterms:created>
  <dcterms:modified xsi:type="dcterms:W3CDTF">2026-10-01T17:05:42Z</dcterms:modified>
</cp:coreProperties>
</file>